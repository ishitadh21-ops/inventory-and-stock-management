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We are presenting our DBMS mini project, the Inventory and Stock Management System. It stores products, categories, suppliers and stock movements in MySQL and keeps stock correct using triggers and stored procedures. Introduce team members and roles.
CONCEPT: Project scope: relational design plus SQL objects in MySQL; a separate browser demo.
LIKELY QUESTION: What is the main goal of your project?
ANSWER: To manage inventory in a structured database so stock is always accurate, validated and reportable.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Many small stores still use notebooks or spreadsheets. Quantities are calculated by hand, so mistakes creep in, records disagree, and nobody notices low stock until an item runs out. Reports take hours. A database stores data once, enforces rules, and answers questions with a query.
CONCEPT: Data redundancy, integrity and consistency problems of file-based systems vs. DBMS.
LIKELY QUESTION: Why not just use Excel?
ANSWER: Excel does not enforce relationships or rules automatically; a DBMS gives constraints, triggers, multi-table queries and consistent shared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our six objectives, from storing master data to generating reports. On the right are the prerequisites. Important: the website demo and the MySQL database are two separate implementations; the demo is not connected to MySQL.
CONCEPT: Functional requirements mapped to DBMS features (constraints, triggers, views).
LIKELY QUESTION: Which objective needed a trigger?
ANSWER: Automatic stock update and preventing stock-out beyond available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Top lane is the real database implementation: the user runs SQL or calls procedures, MySQL applies constraints and triggers, and we get updated stock and reports. Bottom lane is the website demo, which runs only in the browser and saves to local storage. The dashed line shows they are not connected.
CONCEPT: Layered flow: client -&gt; SQL/procedures -&gt; DBMS engine (constraints, triggers) -&gt; results.
LIKELY QUESTION: Does the website update the MySQL database?
ANSWER: No. It is a standalone demo using browser local storage; connecting it needs a backend, listed as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have four entities. One category has many products. One supplier supplies many products, and supplier_id can be null, so a product has zero or one supplier. One product has many stock transactions. There are no many-to-many or one-to-one relationships.
CONCEPT: 1:N relationships implemented by placing the foreign key on the N side.
LIKELY QUESTION: Why is there no many-to-many relationship?
ANSWER: Each product belongs to one category and at most one supplier, so both are 1:N; transactions record movements per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relational schema; underlined means primary key. Normalization: every field holds a single value, so 1NF. All primary keys are single columns, so there are no partial dependencies, 2NF. Category and supplier details live in their own tables, so product rows do not carry transitive dependencies, which supports 3NF. We describe the design as following these principles; we did not do a formal proof.
CONCEPT: 1NF, 2NF, 3NF; functional dependencies; single-column PK implies no partial dependency.
LIKELY QUESTION: Is your design in 3NF?
ANSWER: It follows 3NF principles: non-key attributes depend on the key, and supplier/category details are stored in their own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products table. The primary key identifies each row. NOT NULL forces important values. CHECK constraints block negative price or stock. Foreign keys keep category and supplier references valid. For transactions, ENUM restricts the type to IN or OUT.
CONCEPT: Entity and referential integrity; domain constraints (CHECK, ENUM, NOT NULL).
LIKELY QUESTION: What happens if you insert a product with a non-existing category_id?
ANSWER: MySQL rejects it with a foreign-key violation, preserving referential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add_stock and remove_stock insert a row into stock_transactions. The BEFORE INSERT trigger checks that an OUT quantity does not exceed current stock and raises an error if it does. The AFTER INSERT trigger then adds or subtracts the quantity in products. We have three views for reports, plus SUM and low-stock queries.
CONCEPT: Stored procedures, triggers (BEFORE/AFTER INSERT), views, aggregate functions.
LIKELY QUESTION: Why use a BEFORE trigger for validation and an AFTER trigger for update?
ANSWER: BEFORE can stop an invalid insert; AFTER runs only once the transaction row is valid and updates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an illustrative mockup of our StockPilot website demo; replace it with a real screenshot if you have one. It runs only in the browser and saves data in local storage. It is not connected to MySQL, so changes here do not update the database.
CONCEPT: Front-end prototype vs. database back end; browser local storage.
LIKELY QUESTION: Where is the website data stored?
ANSWER: In the browser local storage, so it stays on that browser only and is separate from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Workbench-style mockup with sample values after all test transactions: Mouse 52, Keyboard 30, Notebook 15, Chair 10, USB Cable 40. The five test cases are listed on the right. Replace the mockup with real Workbench screenshots before the viva and only say a test passed if you actually ran it.
CONCEPT: Testing triggers, constraints and views using sample data.
LIKELY QUESTION: How did you test stock validation?
ANSWER: We call remove_stock with a quantity larger than current stock; the BEFORE INSERT trigger should raise an error and stock should stay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built a structured MySQL database that stores inventory data, links products, categories, suppliers and transactions, supports reports, validates stock and updates quantities automatically. Future scope lists ideas we have not implemented yet, starting with connecting the website to MySQL through a backend.
CONCEPT: Summary of implemented features vs. planned enhancements.
LIKELY QUESTION: What is the biggest limitation?
ANSWER: The website demo is not connected to MySQL, so there is no multi-user or authenticated access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We are happy to take questions. Keep the viva-preparation sheet handy.
CONCEPT: Be ready to demo queries live in Workbench.
LIKELY QUESTION: Can you demonstrate a trigger firing?
ANSWER: Yes: call remove_stock with a valid quantity and show the stock change, then with an excessive quantity and show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30"/>
        </a:solidFill>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DD4BF"/>
          </a:solidFill>
          <a:ln w="12700">
            <a:solidFill>
              <a:srgbClr val="2DD4BF"/>
            </a:solidFill>
            <a:prstDash val="solid"/>
          </a:ln>
        </p:spPr>
      </p:sp>
      <p:sp>
        <p:nvSpPr>
          <p:cNvPr id="4" name="Shape 1"/>
          <p:cNvSpPr/>
          <p:nvPr/>
        </p:nvSpPr>
        <p:spPr>
          <a:xfrm>
            <a:off x="6309360" y="822960"/>
            <a:ext cx="2377440" cy="384048"/>
          </a:xfrm>
          <a:prstGeom prst="roundRect">
            <a:avLst>
              <a:gd name="adj" fmla="val 11905"/>
            </a:avLst>
          </a:prstGeom>
          <a:solidFill>
            <a:srgbClr val="15204A"/>
          </a:solidFill>
          <a:ln w="12700">
            <a:solidFill>
              <a:srgbClr val="2DD4BF"/>
            </a:solidFill>
            <a:prstDash val="solid"/>
          </a:ln>
        </p:spPr>
      </p:sp>
      <p:sp>
        <p:nvSpPr>
          <p:cNvPr id="5" name="Text 2"/>
          <p:cNvSpPr txBox="1"/>
          <p:nvPr/>
        </p:nvSpPr>
        <p:spPr>
          <a:xfrm>
            <a:off x="6400800" y="822960"/>
            <a:ext cx="2194560" cy="384048"/>
          </a:xfrm>
          <a:prstGeom prst="rect">
            <a:avLst/>
          </a:prstGeom>
          <a:noFill/>
          <a:ln/>
        </p:spPr>
        <p:txBody>
          <a:bodyPr wrap="square" lIns="0" tIns="0" rIns="0" bIns="0" rtlCol="0" anchor="ctr"/>
          <a:lstStyle/>
          <a:p>
            <a:pPr indent="0" marL="0">
              <a:buNone/>
            </a:pPr>
            <a:r>
              <a:rPr lang="en-US" sz="1100" dirty="0">
                <a:solidFill>
                  <a:srgbClr val="A9B4D6"/>
                </a:solidFill>
                <a:latin typeface="Consolas" pitchFamily="34" charset="0"/>
                <a:ea typeface="Consolas" pitchFamily="34" charset="-122"/>
                <a:cs typeface="Consolas" pitchFamily="34" charset="-120"/>
              </a:rPr>
              <a:t>products</a:t>
            </a:r>
            <a:endParaRPr lang="en-US" sz="1100" dirty="0"/>
          </a:p>
        </p:txBody>
      </p:sp>
      <p:sp>
        <p:nvSpPr>
          <p:cNvPr id="6" name="Shape 3"/>
          <p:cNvSpPr/>
          <p:nvPr/>
        </p:nvSpPr>
        <p:spPr>
          <a:xfrm>
            <a:off x="6309360" y="1325880"/>
            <a:ext cx="2377440" cy="384048"/>
          </a:xfrm>
          <a:prstGeom prst="roundRect">
            <a:avLst>
              <a:gd name="adj" fmla="val 11905"/>
            </a:avLst>
          </a:prstGeom>
          <a:solidFill>
            <a:srgbClr val="15204A"/>
          </a:solidFill>
          <a:ln w="12700">
            <a:solidFill>
              <a:srgbClr val="A78BFA"/>
            </a:solidFill>
            <a:prstDash val="solid"/>
          </a:ln>
        </p:spPr>
      </p:sp>
      <p:sp>
        <p:nvSpPr>
          <p:cNvPr id="7" name="Text 4"/>
          <p:cNvSpPr txBox="1"/>
          <p:nvPr/>
        </p:nvSpPr>
        <p:spPr>
          <a:xfrm>
            <a:off x="6400800" y="1325880"/>
            <a:ext cx="2194560" cy="384048"/>
          </a:xfrm>
          <a:prstGeom prst="rect">
            <a:avLst/>
          </a:prstGeom>
          <a:noFill/>
          <a:ln/>
        </p:spPr>
        <p:txBody>
          <a:bodyPr wrap="square" lIns="0" tIns="0" rIns="0" bIns="0" rtlCol="0" anchor="ctr"/>
          <a:lstStyle/>
          <a:p>
            <a:pPr indent="0" marL="0">
              <a:buNone/>
            </a:pPr>
            <a:r>
              <a:rPr lang="en-US" sz="1100" dirty="0">
                <a:solidFill>
                  <a:srgbClr val="A9B4D6"/>
                </a:solidFill>
                <a:latin typeface="Consolas" pitchFamily="34" charset="0"/>
                <a:ea typeface="Consolas" pitchFamily="34" charset="-122"/>
                <a:cs typeface="Consolas" pitchFamily="34" charset="-120"/>
              </a:rPr>
              <a:t>categories</a:t>
            </a:r>
            <a:endParaRPr lang="en-US" sz="1100" dirty="0"/>
          </a:p>
        </p:txBody>
      </p:sp>
      <p:sp>
        <p:nvSpPr>
          <p:cNvPr id="8" name="Shape 5"/>
          <p:cNvSpPr/>
          <p:nvPr/>
        </p:nvSpPr>
        <p:spPr>
          <a:xfrm>
            <a:off x="6309360" y="1828800"/>
            <a:ext cx="2377440" cy="384048"/>
          </a:xfrm>
          <a:prstGeom prst="roundRect">
            <a:avLst>
              <a:gd name="adj" fmla="val 11905"/>
            </a:avLst>
          </a:prstGeom>
          <a:solidFill>
            <a:srgbClr val="15204A"/>
          </a:solidFill>
          <a:ln w="12700">
            <a:solidFill>
              <a:srgbClr val="2DD4BF"/>
            </a:solidFill>
            <a:prstDash val="solid"/>
          </a:ln>
        </p:spPr>
      </p:sp>
      <p:sp>
        <p:nvSpPr>
          <p:cNvPr id="9" name="Text 6"/>
          <p:cNvSpPr txBox="1"/>
          <p:nvPr/>
        </p:nvSpPr>
        <p:spPr>
          <a:xfrm>
            <a:off x="6400800" y="1828800"/>
            <a:ext cx="2194560" cy="384048"/>
          </a:xfrm>
          <a:prstGeom prst="rect">
            <a:avLst/>
          </a:prstGeom>
          <a:noFill/>
          <a:ln/>
        </p:spPr>
        <p:txBody>
          <a:bodyPr wrap="square" lIns="0" tIns="0" rIns="0" bIns="0" rtlCol="0" anchor="ctr"/>
          <a:lstStyle/>
          <a:p>
            <a:pPr indent="0" marL="0">
              <a:buNone/>
            </a:pPr>
            <a:r>
              <a:rPr lang="en-US" sz="1100" dirty="0">
                <a:solidFill>
                  <a:srgbClr val="A9B4D6"/>
                </a:solidFill>
                <a:latin typeface="Consolas" pitchFamily="34" charset="0"/>
                <a:ea typeface="Consolas" pitchFamily="34" charset="-122"/>
                <a:cs typeface="Consolas" pitchFamily="34" charset="-120"/>
              </a:rPr>
              <a:t>suppliers</a:t>
            </a:r>
            <a:endParaRPr lang="en-US" sz="1100" dirty="0"/>
          </a:p>
        </p:txBody>
      </p:sp>
      <p:sp>
        <p:nvSpPr>
          <p:cNvPr id="10" name="Text 7"/>
          <p:cNvSpPr txBox="1"/>
          <p:nvPr/>
        </p:nvSpPr>
        <p:spPr>
          <a:xfrm>
            <a:off x="6400800" y="2331720"/>
            <a:ext cx="2194560" cy="365760"/>
          </a:xfrm>
          <a:prstGeom prst="rect">
            <a:avLst/>
          </a:prstGeom>
          <a:noFill/>
          <a:ln/>
        </p:spPr>
        <p:txBody>
          <a:bodyPr wrap="square" lIns="0" tIns="0" rIns="0" bIns="0" rtlCol="0" anchor="ctr"/>
          <a:lstStyle/>
          <a:p>
            <a:pPr indent="0" marL="0">
              <a:buNone/>
            </a:pPr>
            <a:r>
              <a:rPr lang="en-US" sz="1100" dirty="0">
                <a:solidFill>
                  <a:srgbClr val="A9B4D6"/>
                </a:solidFill>
                <a:latin typeface="Consolas" pitchFamily="34" charset="0"/>
                <a:ea typeface="Consolas" pitchFamily="34" charset="-122"/>
                <a:cs typeface="Consolas" pitchFamily="34" charset="-120"/>
              </a:rPr>
              <a:t>stock_transactions</a:t>
            </a:r>
            <a:endParaRPr lang="en-US" sz="1100" dirty="0"/>
          </a:p>
        </p:txBody>
      </p:sp>
      <p:sp>
        <p:nvSpPr>
          <p:cNvPr id="11" name="Shape 8"/>
          <p:cNvSpPr/>
          <p:nvPr/>
        </p:nvSpPr>
        <p:spPr>
          <a:xfrm>
            <a:off x="6309360" y="2331720"/>
            <a:ext cx="2377440" cy="384048"/>
          </a:xfrm>
          <a:prstGeom prst="roundRect">
            <a:avLst>
              <a:gd name="adj" fmla="val 11905"/>
            </a:avLst>
          </a:prstGeom>
          <a:ln w="12700">
            <a:solidFill>
              <a:srgbClr val="A78BFA"/>
            </a:solidFill>
            <a:prstDash val="solid"/>
          </a:ln>
        </p:spPr>
      </p:sp>
      <p:sp>
        <p:nvSpPr>
          <p:cNvPr id="12" name="Text 9"/>
          <p:cNvSpPr txBox="1"/>
          <p:nvPr/>
        </p:nvSpPr>
        <p:spPr>
          <a:xfrm>
            <a:off x="640080" y="822960"/>
            <a:ext cx="5029200" cy="274320"/>
          </a:xfrm>
          <a:prstGeom prst="rect">
            <a:avLst/>
          </a:prstGeom>
          <a:noFill/>
          <a:ln/>
        </p:spPr>
        <p:txBody>
          <a:bodyPr wrap="square" lIns="0" tIns="0" rIns="0" bIns="0" rtlCol="0" anchor="t"/>
          <a:lstStyle/>
          <a:p>
            <a:pPr indent="0" marL="0">
              <a:buNone/>
            </a:pPr>
            <a:r>
              <a:rPr lang="en-US" sz="1200" b="1" spc="400" kern="0" dirty="0">
                <a:solidFill>
                  <a:srgbClr val="2DD4BF"/>
                </a:solidFill>
              </a:rPr>
              <a:t>DBMS MINI PROJECT</a:t>
            </a:r>
            <a:endParaRPr lang="en-US" sz="1200" dirty="0"/>
          </a:p>
        </p:txBody>
      </p:sp>
      <p:sp>
        <p:nvSpPr>
          <p:cNvPr id="13" name="Text 10"/>
          <p:cNvSpPr txBox="1"/>
          <p:nvPr/>
        </p:nvSpPr>
        <p:spPr>
          <a:xfrm>
            <a:off x="640080" y="1188720"/>
            <a:ext cx="5303520" cy="1188720"/>
          </a:xfrm>
          <a:prstGeom prst="rect">
            <a:avLst/>
          </a:prstGeom>
          <a:noFill/>
          <a:ln/>
        </p:spPr>
        <p:txBody>
          <a:bodyPr wrap="square" lIns="0" tIns="0" rIns="0" bIns="0" rtlCol="0" anchor="t"/>
          <a:lstStyle/>
          <a:p>
            <a:pPr indent="0" marL="0">
              <a:buNone/>
            </a:pPr>
            <a:r>
              <a:rPr lang="en-US" sz="3400" b="1" dirty="0">
                <a:solidFill>
                  <a:srgbClr val="FFFFFF"/>
                </a:solidFill>
              </a:rPr>
              <a:t>Inventory and Stock Management System</a:t>
            </a:r>
            <a:endParaRPr lang="en-US" sz="3400" dirty="0"/>
          </a:p>
        </p:txBody>
      </p:sp>
      <p:sp>
        <p:nvSpPr>
          <p:cNvPr id="14" name="Text 11"/>
          <p:cNvSpPr txBox="1"/>
          <p:nvPr/>
        </p:nvSpPr>
        <p:spPr>
          <a:xfrm>
            <a:off x="640080" y="2468880"/>
            <a:ext cx="5303520" cy="274320"/>
          </a:xfrm>
          <a:prstGeom prst="rect">
            <a:avLst/>
          </a:prstGeom>
          <a:noFill/>
          <a:ln/>
        </p:spPr>
        <p:txBody>
          <a:bodyPr wrap="square" lIns="0" tIns="0" rIns="0" bIns="0" rtlCol="0" anchor="t"/>
          <a:lstStyle/>
          <a:p>
            <a:pPr indent="0" marL="0">
              <a:buNone/>
            </a:pPr>
            <a:r>
              <a:rPr lang="en-US" sz="1200" dirty="0">
                <a:solidFill>
                  <a:srgbClr val="A9B4D6"/>
                </a:solidFill>
              </a:rPr>
              <a:t>MySQL  •  Triggers  •  Stored Procedures  •  Views</a:t>
            </a:r>
            <a:endParaRPr lang="en-US" sz="1200" dirty="0"/>
          </a:p>
        </p:txBody>
      </p:sp>
      <p:sp>
        <p:nvSpPr>
          <p:cNvPr id="15" name="Text 12"/>
          <p:cNvSpPr txBox="1"/>
          <p:nvPr/>
        </p:nvSpPr>
        <p:spPr>
          <a:xfrm>
            <a:off x="640080" y="3108960"/>
            <a:ext cx="7315200" cy="1371600"/>
          </a:xfrm>
          <a:prstGeom prst="rect">
            <a:avLst/>
          </a:prstGeom>
          <a:noFill/>
          <a:ln/>
        </p:spPr>
        <p:txBody>
          <a:bodyPr wrap="square" lIns="0" tIns="0" rIns="0" bIns="0" rtlCol="0" anchor="t"/>
          <a:lstStyle/>
          <a:p>
            <a:pPr indent="0" marL="0">
              <a:spcAft>
                <a:spcPts val="400"/>
              </a:spcAft>
              <a:buNone/>
            </a:pPr>
            <a:r>
              <a:rPr lang="en-US" sz="1200" dirty="0">
                <a:solidFill>
                  <a:srgbClr val="A9B4D6"/>
                </a:solidFill>
              </a:rPr>
              <a:t>Group number: [INSERT GROUP NUMBER]</a:t>
            </a:r>
            <a:endParaRPr lang="en-US" sz="1200" dirty="0"/>
          </a:p>
          <a:p>
            <a:pPr indent="0" marL="0">
              <a:spcAft>
                <a:spcPts val="400"/>
              </a:spcAft>
              <a:buNone/>
            </a:pPr>
            <a:r>
              <a:rPr lang="en-US" sz="1200" dirty="0">
                <a:solidFill>
                  <a:srgbClr val="A9B4D6"/>
                </a:solidFill>
              </a:rPr>
              <a:t>Team members: [INSERT ENROLLMENT NUMBERS, NAMES, AND ROLES]</a:t>
            </a:r>
            <a:endParaRPr lang="en-US" sz="1200" dirty="0"/>
          </a:p>
          <a:p>
            <a:pPr indent="0" marL="0">
              <a:spcAft>
                <a:spcPts val="400"/>
              </a:spcAft>
              <a:buNone/>
            </a:pPr>
            <a:r>
              <a:rPr lang="en-US" sz="1200" dirty="0">
                <a:solidFill>
                  <a:srgbClr val="A9B4D6"/>
                </a:solidFill>
              </a:rPr>
              <a:t>Submitted to: [FACULTY NAME]</a:t>
            </a:r>
            <a:endParaRPr lang="en-US" sz="1200" dirty="0"/>
          </a:p>
          <a:p>
            <a:pPr indent="0" marL="0">
              <a:spcAft>
                <a:spcPts val="400"/>
              </a:spcAft>
              <a:buNone/>
            </a:pPr>
            <a:r>
              <a:rPr lang="en-US" sz="1200" dirty="0">
                <a:solidFill>
                  <a:srgbClr val="A9B4D6"/>
                </a:solidFill>
              </a:rPr>
              <a:t>Department: [DEPARTMENT NAME]</a:t>
            </a:r>
            <a:endParaRPr lang="en-US" sz="1200" dirty="0"/>
          </a:p>
          <a:p>
            <a:pPr indent="0" marL="0">
              <a:spcAft>
                <a:spcPts val="400"/>
              </a:spcAft>
              <a:buNone/>
            </a:pPr>
            <a:r>
              <a:rPr lang="en-US" sz="1200" dirty="0">
                <a:solidFill>
                  <a:srgbClr val="A9B4D6"/>
                </a:solidFill>
              </a:rPr>
              <a:t>College: [COLLEGE 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Problem Statement and Motivation</a:t>
            </a:r>
            <a:endParaRPr lang="en-US" sz="2200" dirty="0"/>
          </a:p>
        </p:txBody>
      </p:sp>
      <p:sp>
        <p:nvSpPr>
          <p:cNvPr id="4" name="Text 2"/>
          <p:cNvSpPr txBox="1"/>
          <p:nvPr/>
        </p:nvSpPr>
        <p:spPr>
          <a:xfrm>
            <a:off x="640080" y="658368"/>
            <a:ext cx="8046720" cy="228600"/>
          </a:xfrm>
          <a:prstGeom prst="rect">
            <a:avLst/>
          </a:prstGeom>
          <a:noFill/>
          <a:ln/>
        </p:spPr>
        <p:txBody>
          <a:bodyPr wrap="square" lIns="0" tIns="0" rIns="0" bIns="0" rtlCol="0" anchor="ctr"/>
          <a:lstStyle/>
          <a:p>
            <a:pPr indent="0" marL="0">
              <a:buNone/>
            </a:pPr>
            <a:r>
              <a:rPr lang="en-US" sz="1100" dirty="0">
                <a:solidFill>
                  <a:srgbClr val="A9B4D6"/>
                </a:solidFill>
              </a:rPr>
              <a:t>Why manual inventory tracking breaks down</a:t>
            </a:r>
            <a:endParaRPr lang="en-US" sz="1100" dirty="0"/>
          </a:p>
        </p:txBody>
      </p:sp>
      <p:sp>
        <p:nvSpPr>
          <p:cNvPr id="5" name="Text 3"/>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2 / 12</a:t>
            </a:r>
            <a:endParaRPr lang="en-US" sz="9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8" name="Shape 5"/>
          <p:cNvSpPr/>
          <p:nvPr/>
        </p:nvSpPr>
        <p:spPr>
          <a:xfrm>
            <a:off x="457200" y="1143000"/>
            <a:ext cx="4023360" cy="3383280"/>
          </a:xfrm>
          <a:prstGeom prst="roundRect">
            <a:avLst>
              <a:gd name="adj" fmla="val 2162"/>
            </a:avLst>
          </a:prstGeom>
          <a:solidFill>
            <a:srgbClr val="15204A"/>
          </a:solidFill>
          <a:ln w="12700">
            <a:solidFill>
              <a:srgbClr val="F87171"/>
            </a:solidFill>
            <a:prstDash val="solid"/>
          </a:ln>
        </p:spPr>
      </p:sp>
      <p:sp>
        <p:nvSpPr>
          <p:cNvPr id="9" name="Shape 6"/>
          <p:cNvSpPr/>
          <p:nvPr/>
        </p:nvSpPr>
        <p:spPr>
          <a:xfrm>
            <a:off x="4663440" y="1143000"/>
            <a:ext cx="4023360" cy="3383280"/>
          </a:xfrm>
          <a:prstGeom prst="roundRect">
            <a:avLst>
              <a:gd name="adj" fmla="val 2162"/>
            </a:avLst>
          </a:prstGeom>
          <a:solidFill>
            <a:srgbClr val="15204A"/>
          </a:solidFill>
          <a:ln w="12700">
            <a:solidFill>
              <a:srgbClr val="2DD4BF"/>
            </a:solidFill>
            <a:prstDash val="solid"/>
          </a:ln>
        </p:spPr>
      </p:sp>
      <p:sp>
        <p:nvSpPr>
          <p:cNvPr id="10" name="Text 7"/>
          <p:cNvSpPr txBox="1"/>
          <p:nvPr/>
        </p:nvSpPr>
        <p:spPr>
          <a:xfrm>
            <a:off x="640080" y="1280160"/>
            <a:ext cx="3657600" cy="274320"/>
          </a:xfrm>
          <a:prstGeom prst="rect">
            <a:avLst/>
          </a:prstGeom>
          <a:noFill/>
          <a:ln/>
        </p:spPr>
        <p:txBody>
          <a:bodyPr wrap="square" lIns="0" tIns="0" rIns="0" bIns="0" rtlCol="0" anchor="t"/>
          <a:lstStyle/>
          <a:p>
            <a:pPr indent="0" marL="0">
              <a:buNone/>
            </a:pPr>
            <a:r>
              <a:rPr lang="en-US" sz="1500" b="1" dirty="0">
                <a:solidFill>
                  <a:srgbClr val="F87171"/>
                </a:solidFill>
              </a:rPr>
              <a:t>Manual tracking</a:t>
            </a:r>
            <a:endParaRPr lang="en-US" sz="1500" dirty="0"/>
          </a:p>
        </p:txBody>
      </p:sp>
      <p:sp>
        <p:nvSpPr>
          <p:cNvPr id="11" name="Text 8"/>
          <p:cNvSpPr txBox="1"/>
          <p:nvPr/>
        </p:nvSpPr>
        <p:spPr>
          <a:xfrm>
            <a:off x="640080" y="1737360"/>
            <a:ext cx="3657600" cy="25603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FFFFFF"/>
                </a:solidFill>
              </a:rPr>
              <a:t>Manual quantity calculations</a:t>
            </a:r>
            <a:endParaRPr lang="en-US" sz="1300" dirty="0"/>
          </a:p>
          <a:p>
            <a:pPr marL="342900" indent="-342900">
              <a:spcAft>
                <a:spcPts val="500"/>
              </a:spcAft>
              <a:buSzPct val="100000"/>
              <a:buChar char="•"/>
            </a:pPr>
            <a:r>
              <a:rPr lang="en-US" sz="1300" dirty="0">
                <a:solidFill>
                  <a:srgbClr val="FFFFFF"/>
                </a:solidFill>
              </a:rPr>
              <a:t>Human errors, inconsistent records</a:t>
            </a:r>
            <a:endParaRPr lang="en-US" sz="1300" dirty="0"/>
          </a:p>
          <a:p>
            <a:pPr marL="342900" indent="-342900">
              <a:spcAft>
                <a:spcPts val="500"/>
              </a:spcAft>
              <a:buSzPct val="100000"/>
              <a:buChar char="•"/>
            </a:pPr>
            <a:r>
              <a:rPr lang="en-US" sz="1300" dirty="0">
                <a:solidFill>
                  <a:srgbClr val="FFFFFF"/>
                </a:solidFill>
              </a:rPr>
              <a:t>Stock movements hard to trace</a:t>
            </a:r>
            <a:endParaRPr lang="en-US" sz="1300" dirty="0"/>
          </a:p>
          <a:p>
            <a:pPr marL="342900" indent="-342900">
              <a:spcAft>
                <a:spcPts val="500"/>
              </a:spcAft>
              <a:buSzPct val="100000"/>
              <a:buChar char="•"/>
            </a:pPr>
            <a:r>
              <a:rPr lang="en-US" sz="1300" dirty="0">
                <a:solidFill>
                  <a:srgbClr val="FFFFFF"/>
                </a:solidFill>
              </a:rPr>
              <a:t>Low stock found too late</a:t>
            </a:r>
            <a:endParaRPr lang="en-US" sz="1300" dirty="0"/>
          </a:p>
          <a:p>
            <a:pPr marL="342900" indent="-342900">
              <a:spcAft>
                <a:spcPts val="500"/>
              </a:spcAft>
              <a:buSzPct val="100000"/>
              <a:buChar char="•"/>
            </a:pPr>
            <a:r>
              <a:rPr lang="en-US" sz="1300" dirty="0">
                <a:solidFill>
                  <a:srgbClr val="FFFFFF"/>
                </a:solidFill>
              </a:rPr>
              <a:t>Reports are slow to prepare</a:t>
            </a:r>
            <a:endParaRPr lang="en-US" sz="1300" dirty="0"/>
          </a:p>
        </p:txBody>
      </p:sp>
      <p:sp>
        <p:nvSpPr>
          <p:cNvPr id="12" name="Text 9"/>
          <p:cNvSpPr txBox="1"/>
          <p:nvPr/>
        </p:nvSpPr>
        <p:spPr>
          <a:xfrm>
            <a:off x="4846320" y="1280160"/>
            <a:ext cx="3657600" cy="274320"/>
          </a:xfrm>
          <a:prstGeom prst="rect">
            <a:avLst/>
          </a:prstGeom>
          <a:noFill/>
          <a:ln/>
        </p:spPr>
        <p:txBody>
          <a:bodyPr wrap="square" lIns="0" tIns="0" rIns="0" bIns="0" rtlCol="0" anchor="t"/>
          <a:lstStyle/>
          <a:p>
            <a:pPr indent="0" marL="0">
              <a:buNone/>
            </a:pPr>
            <a:r>
              <a:rPr lang="en-US" sz="1500" b="1" dirty="0">
                <a:solidFill>
                  <a:srgbClr val="2DD4BF"/>
                </a:solidFill>
              </a:rPr>
              <a:t>Database-assisted tracking</a:t>
            </a:r>
            <a:endParaRPr lang="en-US" sz="1500" dirty="0"/>
          </a:p>
        </p:txBody>
      </p:sp>
      <p:sp>
        <p:nvSpPr>
          <p:cNvPr id="13" name="Text 10"/>
          <p:cNvSpPr txBox="1"/>
          <p:nvPr/>
        </p:nvSpPr>
        <p:spPr>
          <a:xfrm>
            <a:off x="4846320" y="1737360"/>
            <a:ext cx="3657600" cy="25603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FFFFFF"/>
                </a:solidFill>
              </a:rPr>
              <a:t>Stock updated automatically by triggers</a:t>
            </a:r>
            <a:endParaRPr lang="en-US" sz="1300" dirty="0"/>
          </a:p>
          <a:p>
            <a:pPr marL="342900" indent="-342900">
              <a:spcAft>
                <a:spcPts val="500"/>
              </a:spcAft>
              <a:buSzPct val="100000"/>
              <a:buChar char="•"/>
            </a:pPr>
            <a:r>
              <a:rPr lang="en-US" sz="1300" dirty="0">
                <a:solidFill>
                  <a:srgbClr val="FFFFFF"/>
                </a:solidFill>
              </a:rPr>
              <a:t>Constraints block invalid data</a:t>
            </a:r>
            <a:endParaRPr lang="en-US" sz="1300" dirty="0"/>
          </a:p>
          <a:p>
            <a:pPr marL="342900" indent="-342900">
              <a:spcAft>
                <a:spcPts val="500"/>
              </a:spcAft>
              <a:buSzPct val="100000"/>
              <a:buChar char="•"/>
            </a:pPr>
            <a:r>
              <a:rPr lang="en-US" sz="1300" dirty="0">
                <a:solidFill>
                  <a:srgbClr val="FFFFFF"/>
                </a:solidFill>
              </a:rPr>
              <a:t>Every IN/OUT movement is recorded</a:t>
            </a:r>
            <a:endParaRPr lang="en-US" sz="1300" dirty="0"/>
          </a:p>
          <a:p>
            <a:pPr marL="342900" indent="-342900">
              <a:spcAft>
                <a:spcPts val="500"/>
              </a:spcAft>
              <a:buSzPct val="100000"/>
              <a:buChar char="•"/>
            </a:pPr>
            <a:r>
              <a:rPr lang="en-US" sz="1300" dirty="0">
                <a:solidFill>
                  <a:srgbClr val="FFFFFF"/>
                </a:solidFill>
              </a:rPr>
              <a:t>Low-stock query / view on demand</a:t>
            </a:r>
            <a:endParaRPr lang="en-US" sz="1300" dirty="0"/>
          </a:p>
          <a:p>
            <a:pPr marL="342900" indent="-342900">
              <a:spcAft>
                <a:spcPts val="500"/>
              </a:spcAft>
              <a:buSzPct val="100000"/>
              <a:buChar char="•"/>
            </a:pPr>
            <a:r>
              <a:rPr lang="en-US" sz="1300" dirty="0">
                <a:solidFill>
                  <a:srgbClr val="FFFFFF"/>
                </a:solidFill>
              </a:rPr>
              <a:t>Reports generated with SQL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System Objectives and Requirements</a:t>
            </a:r>
            <a:endParaRPr lang="en-US" sz="2200" dirty="0"/>
          </a:p>
        </p:txBody>
      </p:sp>
      <p:sp>
        <p:nvSpPr>
          <p:cNvPr id="4" name="Text 2"/>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3 / 12</a:t>
            </a:r>
            <a:endParaRPr lang="en-US" sz="900" dirty="0"/>
          </a:p>
        </p:txBody>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7" name="Shape 4"/>
          <p:cNvSpPr/>
          <p:nvPr/>
        </p:nvSpPr>
        <p:spPr>
          <a:xfrm>
            <a:off x="457200" y="1051560"/>
            <a:ext cx="4937760" cy="3520440"/>
          </a:xfrm>
          <a:prstGeom prst="roundRect">
            <a:avLst>
              <a:gd name="adj" fmla="val 2078"/>
            </a:avLst>
          </a:prstGeom>
          <a:solidFill>
            <a:srgbClr val="15204A"/>
          </a:solidFill>
          <a:ln w="12700">
            <a:solidFill>
              <a:srgbClr val="2A3768"/>
            </a:solidFill>
            <a:prstDash val="solid"/>
          </a:ln>
        </p:spPr>
      </p:sp>
      <p:sp>
        <p:nvSpPr>
          <p:cNvPr id="8" name="Text 5"/>
          <p:cNvSpPr txBox="1"/>
          <p:nvPr/>
        </p:nvSpPr>
        <p:spPr>
          <a:xfrm>
            <a:off x="640080" y="1170432"/>
            <a:ext cx="3657600" cy="274320"/>
          </a:xfrm>
          <a:prstGeom prst="rect">
            <a:avLst/>
          </a:prstGeom>
          <a:noFill/>
          <a:ln/>
        </p:spPr>
        <p:txBody>
          <a:bodyPr wrap="square" lIns="0" tIns="0" rIns="0" bIns="0" rtlCol="0" anchor="t"/>
          <a:lstStyle/>
          <a:p>
            <a:pPr indent="0" marL="0">
              <a:buNone/>
            </a:pPr>
            <a:r>
              <a:rPr lang="en-US" sz="1400" b="1" dirty="0">
                <a:solidFill>
                  <a:srgbClr val="2DD4BF"/>
                </a:solidFill>
              </a:rPr>
              <a:t>Objectives</a:t>
            </a:r>
            <a:endParaRPr lang="en-US" sz="1400" dirty="0"/>
          </a:p>
        </p:txBody>
      </p:sp>
      <p:sp>
        <p:nvSpPr>
          <p:cNvPr id="9" name="Text 6"/>
          <p:cNvSpPr txBox="1"/>
          <p:nvPr/>
        </p:nvSpPr>
        <p:spPr>
          <a:xfrm>
            <a:off x="640080" y="1554480"/>
            <a:ext cx="457200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rPr>
              <a:t>Maintain product, category and supplier records</a:t>
            </a:r>
            <a:endParaRPr lang="en-US" sz="1200" dirty="0"/>
          </a:p>
          <a:p>
            <a:pPr marL="342900" indent="-342900">
              <a:spcAft>
                <a:spcPts val="500"/>
              </a:spcAft>
              <a:buSzPct val="100000"/>
              <a:buChar char="•"/>
            </a:pPr>
            <a:r>
              <a:rPr lang="en-US" sz="1200" dirty="0">
                <a:solidFill>
                  <a:srgbClr val="FFFFFF"/>
                </a:solidFill>
              </a:rPr>
              <a:t>Track stock-in and stock-out transactions</a:t>
            </a:r>
            <a:endParaRPr lang="en-US" sz="1200" dirty="0"/>
          </a:p>
          <a:p>
            <a:pPr marL="342900" indent="-342900">
              <a:spcAft>
                <a:spcPts val="500"/>
              </a:spcAft>
              <a:buSzPct val="100000"/>
              <a:buChar char="•"/>
            </a:pPr>
            <a:r>
              <a:rPr lang="en-US" sz="1200" dirty="0">
                <a:solidFill>
                  <a:srgbClr val="FFFFFF"/>
                </a:solidFill>
              </a:rPr>
              <a:t>Update current stock automatically via triggers</a:t>
            </a:r>
            <a:endParaRPr lang="en-US" sz="1200" dirty="0"/>
          </a:p>
          <a:p>
            <a:pPr marL="342900" indent="-342900">
              <a:spcAft>
                <a:spcPts val="500"/>
              </a:spcAft>
              <a:buSzPct val="100000"/>
              <a:buChar char="•"/>
            </a:pPr>
            <a:r>
              <a:rPr lang="en-US" sz="1200" dirty="0">
                <a:solidFill>
                  <a:srgbClr val="FFFFFF"/>
                </a:solidFill>
              </a:rPr>
              <a:t>Prevent stock-out above available inventory</a:t>
            </a:r>
            <a:endParaRPr lang="en-US" sz="1200" dirty="0"/>
          </a:p>
          <a:p>
            <a:pPr marL="342900" indent="-342900">
              <a:spcAft>
                <a:spcPts val="500"/>
              </a:spcAft>
              <a:buSzPct val="100000"/>
              <a:buChar char="•"/>
            </a:pPr>
            <a:r>
              <a:rPr lang="en-US" sz="1200" dirty="0">
                <a:solidFill>
                  <a:srgbClr val="FFFFFF"/>
                </a:solidFill>
              </a:rPr>
              <a:t>Identify products at or below reorder level</a:t>
            </a:r>
            <a:endParaRPr lang="en-US" sz="1200" dirty="0"/>
          </a:p>
          <a:p>
            <a:pPr marL="342900" indent="-342900">
              <a:spcAft>
                <a:spcPts val="500"/>
              </a:spcAft>
              <a:buSzPct val="100000"/>
              <a:buChar char="•"/>
            </a:pPr>
            <a:r>
              <a:rPr lang="en-US" sz="1200" dirty="0">
                <a:solidFill>
                  <a:srgbClr val="FFFFFF"/>
                </a:solidFill>
              </a:rPr>
              <a:t>Generate inventory and transaction reports</a:t>
            </a:r>
            <a:endParaRPr lang="en-US" sz="1200" dirty="0"/>
          </a:p>
        </p:txBody>
      </p:sp>
      <p:sp>
        <p:nvSpPr>
          <p:cNvPr id="10" name="Shape 7"/>
          <p:cNvSpPr/>
          <p:nvPr/>
        </p:nvSpPr>
        <p:spPr>
          <a:xfrm>
            <a:off x="5577840" y="1051560"/>
            <a:ext cx="3108960" cy="2240280"/>
          </a:xfrm>
          <a:prstGeom prst="roundRect">
            <a:avLst>
              <a:gd name="adj" fmla="val 3265"/>
            </a:avLst>
          </a:prstGeom>
          <a:solidFill>
            <a:srgbClr val="15204A"/>
          </a:solidFill>
          <a:ln w="12700">
            <a:solidFill>
              <a:srgbClr val="2A3768"/>
            </a:solidFill>
            <a:prstDash val="solid"/>
          </a:ln>
        </p:spPr>
      </p:sp>
      <p:sp>
        <p:nvSpPr>
          <p:cNvPr id="11" name="Text 8"/>
          <p:cNvSpPr txBox="1"/>
          <p:nvPr/>
        </p:nvSpPr>
        <p:spPr>
          <a:xfrm>
            <a:off x="5760720" y="1170432"/>
            <a:ext cx="2743200" cy="274320"/>
          </a:xfrm>
          <a:prstGeom prst="rect">
            <a:avLst/>
          </a:prstGeom>
          <a:noFill/>
          <a:ln/>
        </p:spPr>
        <p:txBody>
          <a:bodyPr wrap="square" lIns="0" tIns="0" rIns="0" bIns="0" rtlCol="0" anchor="t"/>
          <a:lstStyle/>
          <a:p>
            <a:pPr indent="0" marL="0">
              <a:buNone/>
            </a:pPr>
            <a:r>
              <a:rPr lang="en-US" sz="1400" b="1" dirty="0">
                <a:solidFill>
                  <a:srgbClr val="2DD4BF"/>
                </a:solidFill>
              </a:rPr>
              <a:t>Prerequisites</a:t>
            </a:r>
            <a:endParaRPr lang="en-US" sz="1400" dirty="0"/>
          </a:p>
        </p:txBody>
      </p:sp>
      <p:sp>
        <p:nvSpPr>
          <p:cNvPr id="12" name="Text 9"/>
          <p:cNvSpPr txBox="1"/>
          <p:nvPr/>
        </p:nvSpPr>
        <p:spPr>
          <a:xfrm>
            <a:off x="5760720" y="1536192"/>
            <a:ext cx="2834640" cy="173736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rPr>
              <a:t>Windows computer</a:t>
            </a:r>
            <a:endParaRPr lang="en-US" sz="1150" dirty="0"/>
          </a:p>
          <a:p>
            <a:pPr marL="342900" indent="-342900">
              <a:spcAft>
                <a:spcPts val="500"/>
              </a:spcAft>
              <a:buSzPct val="100000"/>
              <a:buChar char="•"/>
            </a:pPr>
            <a:r>
              <a:rPr lang="en-US" sz="1150" dirty="0">
                <a:solidFill>
                  <a:srgbClr val="FFFFFF"/>
                </a:solidFill>
              </a:rPr>
              <a:t>MySQL Server</a:t>
            </a:r>
            <a:endParaRPr lang="en-US" sz="1150" dirty="0"/>
          </a:p>
          <a:p>
            <a:pPr marL="342900" indent="-342900">
              <a:spcAft>
                <a:spcPts val="500"/>
              </a:spcAft>
              <a:buSzPct val="100000"/>
              <a:buChar char="•"/>
            </a:pPr>
            <a:r>
              <a:rPr lang="en-US" sz="1150" dirty="0">
                <a:solidFill>
                  <a:srgbClr val="FFFFFF"/>
                </a:solidFill>
              </a:rPr>
              <a:t>MySQL Workbench</a:t>
            </a:r>
            <a:endParaRPr lang="en-US" sz="1150" dirty="0"/>
          </a:p>
          <a:p>
            <a:pPr marL="342900" indent="-342900">
              <a:spcAft>
                <a:spcPts val="500"/>
              </a:spcAft>
              <a:buSzPct val="100000"/>
              <a:buChar char="•"/>
            </a:pPr>
            <a:r>
              <a:rPr lang="en-US" sz="1150" dirty="0">
                <a:solidFill>
                  <a:srgbClr val="FFFFFF"/>
                </a:solidFill>
              </a:rPr>
              <a:t>Browser (website demo)</a:t>
            </a:r>
            <a:endParaRPr lang="en-US" sz="1150" dirty="0"/>
          </a:p>
          <a:p>
            <a:pPr marL="342900" indent="-342900">
              <a:spcAft>
                <a:spcPts val="500"/>
              </a:spcAft>
              <a:buSzPct val="100000"/>
              <a:buChar char="•"/>
            </a:pPr>
            <a:r>
              <a:rPr lang="en-US" sz="1150" dirty="0">
                <a:solidFill>
                  <a:srgbClr val="FFFFFF"/>
                </a:solidFill>
              </a:rPr>
              <a:t>HTML, CSS, JavaScript (demo)</a:t>
            </a:r>
            <a:endParaRPr lang="en-US" sz="1150" dirty="0"/>
          </a:p>
        </p:txBody>
      </p:sp>
      <p:sp>
        <p:nvSpPr>
          <p:cNvPr id="13" name="Shape 10"/>
          <p:cNvSpPr/>
          <p:nvPr/>
        </p:nvSpPr>
        <p:spPr>
          <a:xfrm>
            <a:off x="5577840" y="3429000"/>
            <a:ext cx="3108960" cy="1143000"/>
          </a:xfrm>
          <a:prstGeom prst="roundRect">
            <a:avLst>
              <a:gd name="adj" fmla="val 6400"/>
            </a:avLst>
          </a:prstGeom>
          <a:solidFill>
            <a:srgbClr val="15204A"/>
          </a:solidFill>
          <a:ln w="12700">
            <a:solidFill>
              <a:srgbClr val="FBBF24"/>
            </a:solidFill>
            <a:prstDash val="solid"/>
          </a:ln>
        </p:spPr>
      </p:sp>
      <p:sp>
        <p:nvSpPr>
          <p:cNvPr id="14" name="Text 11"/>
          <p:cNvSpPr txBox="1"/>
          <p:nvPr/>
        </p:nvSpPr>
        <p:spPr>
          <a:xfrm>
            <a:off x="5760720" y="3520440"/>
            <a:ext cx="2743200" cy="960120"/>
          </a:xfrm>
          <a:prstGeom prst="rect">
            <a:avLst/>
          </a:prstGeom>
          <a:noFill/>
          <a:ln/>
        </p:spPr>
        <p:txBody>
          <a:bodyPr wrap="square" lIns="0" tIns="0" rIns="0" bIns="0" rtlCol="0" anchor="ctr"/>
          <a:lstStyle/>
          <a:p>
            <a:pPr indent="0" marL="0">
              <a:buNone/>
            </a:pPr>
            <a:r>
              <a:rPr lang="en-US" sz="1150" dirty="0">
                <a:solidFill>
                  <a:srgbClr val="FBBF24"/>
                </a:solidFill>
              </a:rPr>
              <a:t>Note: the website demo and the MySQL database are separate implementations.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System Architecture</a:t>
            </a:r>
            <a:endParaRPr lang="en-US" sz="2200" dirty="0"/>
          </a:p>
        </p:txBody>
      </p:sp>
      <p:sp>
        <p:nvSpPr>
          <p:cNvPr id="4" name="Text 2"/>
          <p:cNvSpPr txBox="1"/>
          <p:nvPr/>
        </p:nvSpPr>
        <p:spPr>
          <a:xfrm>
            <a:off x="640080" y="658368"/>
            <a:ext cx="8046720" cy="228600"/>
          </a:xfrm>
          <a:prstGeom prst="rect">
            <a:avLst/>
          </a:prstGeom>
          <a:noFill/>
          <a:ln/>
        </p:spPr>
        <p:txBody>
          <a:bodyPr wrap="square" lIns="0" tIns="0" rIns="0" bIns="0" rtlCol="0" anchor="ctr"/>
          <a:lstStyle/>
          <a:p>
            <a:pPr indent="0" marL="0">
              <a:buNone/>
            </a:pPr>
            <a:r>
              <a:rPr lang="en-US" sz="1100" dirty="0">
                <a:solidFill>
                  <a:srgbClr val="A9B4D6"/>
                </a:solidFill>
              </a:rPr>
              <a:t>Two separate implementations</a:t>
            </a:r>
            <a:endParaRPr lang="en-US" sz="1100" dirty="0"/>
          </a:p>
        </p:txBody>
      </p:sp>
      <p:sp>
        <p:nvSpPr>
          <p:cNvPr id="5" name="Text 3"/>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4 / 12</a:t>
            </a:r>
            <a:endParaRPr lang="en-US" sz="9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8" name="Text 5"/>
          <p:cNvSpPr txBox="1"/>
          <p:nvPr/>
        </p:nvSpPr>
        <p:spPr>
          <a:xfrm>
            <a:off x="457200" y="1005840"/>
            <a:ext cx="5486400" cy="228600"/>
          </a:xfrm>
          <a:prstGeom prst="rect">
            <a:avLst/>
          </a:prstGeom>
          <a:noFill/>
          <a:ln/>
        </p:spPr>
        <p:txBody>
          <a:bodyPr wrap="square" lIns="0" tIns="0" rIns="0" bIns="0" rtlCol="0" anchor="t"/>
          <a:lstStyle/>
          <a:p>
            <a:pPr indent="0" marL="0">
              <a:buNone/>
            </a:pPr>
            <a:r>
              <a:rPr lang="en-US" sz="1100" b="1" dirty="0">
                <a:solidFill>
                  <a:srgbClr val="2DD4BF"/>
                </a:solidFill>
              </a:rPr>
              <a:t>A. DATABASE IMPLEMENTATION (MySQL)</a:t>
            </a:r>
            <a:endParaRPr lang="en-US" sz="1100" dirty="0"/>
          </a:p>
        </p:txBody>
      </p:sp>
      <p:sp>
        <p:nvSpPr>
          <p:cNvPr id="9" name="Shape 6"/>
          <p:cNvSpPr/>
          <p:nvPr/>
        </p:nvSpPr>
        <p:spPr>
          <a:xfrm>
            <a:off x="457200" y="1325880"/>
            <a:ext cx="1417320" cy="731520"/>
          </a:xfrm>
          <a:prstGeom prst="roundRect">
            <a:avLst>
              <a:gd name="adj" fmla="val 7500"/>
            </a:avLst>
          </a:prstGeom>
          <a:solidFill>
            <a:srgbClr val="15204A"/>
          </a:solidFill>
          <a:ln w="12700">
            <a:solidFill>
              <a:srgbClr val="2DD4BF"/>
            </a:solidFill>
            <a:prstDash val="solid"/>
          </a:ln>
        </p:spPr>
      </p:sp>
      <p:sp>
        <p:nvSpPr>
          <p:cNvPr id="10" name="Text 7"/>
          <p:cNvSpPr txBox="1"/>
          <p:nvPr/>
        </p:nvSpPr>
        <p:spPr>
          <a:xfrm>
            <a:off x="457200" y="132588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User</a:t>
            </a:r>
            <a:endParaRPr lang="en-US" sz="1000" dirty="0"/>
          </a:p>
        </p:txBody>
      </p:sp>
      <p:sp>
        <p:nvSpPr>
          <p:cNvPr id="11" name="Shape 8"/>
          <p:cNvSpPr/>
          <p:nvPr/>
        </p:nvSpPr>
        <p:spPr>
          <a:xfrm>
            <a:off x="1874520" y="1691640"/>
            <a:ext cx="320040" cy="0"/>
          </a:xfrm>
          <a:prstGeom prst="line">
            <a:avLst/>
          </a:prstGeom>
          <a:noFill/>
          <a:ln w="19050">
            <a:solidFill>
              <a:srgbClr val="2DD4BF"/>
            </a:solidFill>
            <a:prstDash val="solid"/>
            <a:tailEnd type="triangle"/>
          </a:ln>
        </p:spPr>
      </p:sp>
      <p:sp>
        <p:nvSpPr>
          <p:cNvPr id="12" name="Shape 9"/>
          <p:cNvSpPr/>
          <p:nvPr/>
        </p:nvSpPr>
        <p:spPr>
          <a:xfrm>
            <a:off x="2194560" y="1325880"/>
            <a:ext cx="1417320" cy="731520"/>
          </a:xfrm>
          <a:prstGeom prst="roundRect">
            <a:avLst>
              <a:gd name="adj" fmla="val 7500"/>
            </a:avLst>
          </a:prstGeom>
          <a:solidFill>
            <a:srgbClr val="15204A"/>
          </a:solidFill>
          <a:ln w="12700">
            <a:solidFill>
              <a:srgbClr val="2DD4BF"/>
            </a:solidFill>
            <a:prstDash val="solid"/>
          </a:ln>
        </p:spPr>
      </p:sp>
      <p:sp>
        <p:nvSpPr>
          <p:cNvPr id="13" name="Text 10"/>
          <p:cNvSpPr txBox="1"/>
          <p:nvPr/>
        </p:nvSpPr>
        <p:spPr>
          <a:xfrm>
            <a:off x="2194560" y="132588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SQL queries / stored procedures</a:t>
            </a:r>
            <a:endParaRPr lang="en-US" sz="1000" dirty="0"/>
          </a:p>
        </p:txBody>
      </p:sp>
      <p:sp>
        <p:nvSpPr>
          <p:cNvPr id="14" name="Shape 11"/>
          <p:cNvSpPr/>
          <p:nvPr/>
        </p:nvSpPr>
        <p:spPr>
          <a:xfrm>
            <a:off x="3611880" y="1691640"/>
            <a:ext cx="320040" cy="0"/>
          </a:xfrm>
          <a:prstGeom prst="line">
            <a:avLst/>
          </a:prstGeom>
          <a:noFill/>
          <a:ln w="19050">
            <a:solidFill>
              <a:srgbClr val="2DD4BF"/>
            </a:solidFill>
            <a:prstDash val="solid"/>
            <a:tailEnd type="triangle"/>
          </a:ln>
        </p:spPr>
      </p:sp>
      <p:sp>
        <p:nvSpPr>
          <p:cNvPr id="15" name="Shape 12"/>
          <p:cNvSpPr/>
          <p:nvPr/>
        </p:nvSpPr>
        <p:spPr>
          <a:xfrm>
            <a:off x="3931920" y="1325880"/>
            <a:ext cx="1417320" cy="731520"/>
          </a:xfrm>
          <a:prstGeom prst="roundRect">
            <a:avLst>
              <a:gd name="adj" fmla="val 7500"/>
            </a:avLst>
          </a:prstGeom>
          <a:solidFill>
            <a:srgbClr val="1E2A66"/>
          </a:solidFill>
          <a:ln w="12700">
            <a:solidFill>
              <a:srgbClr val="2DD4BF"/>
            </a:solidFill>
            <a:prstDash val="solid"/>
          </a:ln>
        </p:spPr>
      </p:sp>
      <p:sp>
        <p:nvSpPr>
          <p:cNvPr id="16" name="Text 13"/>
          <p:cNvSpPr txBox="1"/>
          <p:nvPr/>
        </p:nvSpPr>
        <p:spPr>
          <a:xfrm>
            <a:off x="3931920" y="132588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MySQL database</a:t>
            </a:r>
            <a:endParaRPr lang="en-US" sz="1000" dirty="0"/>
          </a:p>
          <a:p>
            <a:pPr algn="ctr" indent="0" marL="0">
              <a:buNone/>
            </a:pPr>
            <a:r>
              <a:rPr lang="en-US" sz="1000" b="1" dirty="0">
                <a:solidFill>
                  <a:srgbClr val="FFFFFF"/>
                </a:solidFill>
              </a:rPr>
              <a:t>(inventory_management)</a:t>
            </a:r>
            <a:endParaRPr lang="en-US" sz="1000" dirty="0"/>
          </a:p>
        </p:txBody>
      </p:sp>
      <p:sp>
        <p:nvSpPr>
          <p:cNvPr id="17" name="Shape 14"/>
          <p:cNvSpPr/>
          <p:nvPr/>
        </p:nvSpPr>
        <p:spPr>
          <a:xfrm>
            <a:off x="5349240" y="1691640"/>
            <a:ext cx="320040" cy="0"/>
          </a:xfrm>
          <a:prstGeom prst="line">
            <a:avLst/>
          </a:prstGeom>
          <a:noFill/>
          <a:ln w="19050">
            <a:solidFill>
              <a:srgbClr val="2DD4BF"/>
            </a:solidFill>
            <a:prstDash val="solid"/>
            <a:tailEnd type="triangle"/>
          </a:ln>
        </p:spPr>
      </p:sp>
      <p:sp>
        <p:nvSpPr>
          <p:cNvPr id="18" name="Shape 15"/>
          <p:cNvSpPr/>
          <p:nvPr/>
        </p:nvSpPr>
        <p:spPr>
          <a:xfrm>
            <a:off x="5669280" y="1325880"/>
            <a:ext cx="1417320" cy="731520"/>
          </a:xfrm>
          <a:prstGeom prst="roundRect">
            <a:avLst>
              <a:gd name="adj" fmla="val 7500"/>
            </a:avLst>
          </a:prstGeom>
          <a:solidFill>
            <a:srgbClr val="15204A"/>
          </a:solidFill>
          <a:ln w="12700">
            <a:solidFill>
              <a:srgbClr val="2DD4BF"/>
            </a:solidFill>
            <a:prstDash val="solid"/>
          </a:ln>
        </p:spPr>
      </p:sp>
      <p:sp>
        <p:nvSpPr>
          <p:cNvPr id="19" name="Text 16"/>
          <p:cNvSpPr txBox="1"/>
          <p:nvPr/>
        </p:nvSpPr>
        <p:spPr>
          <a:xfrm>
            <a:off x="5669280" y="132588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Triggers and constraints</a:t>
            </a:r>
            <a:endParaRPr lang="en-US" sz="1000" dirty="0"/>
          </a:p>
        </p:txBody>
      </p:sp>
      <p:sp>
        <p:nvSpPr>
          <p:cNvPr id="20" name="Shape 17"/>
          <p:cNvSpPr/>
          <p:nvPr/>
        </p:nvSpPr>
        <p:spPr>
          <a:xfrm>
            <a:off x="7086600" y="1691640"/>
            <a:ext cx="320040" cy="0"/>
          </a:xfrm>
          <a:prstGeom prst="line">
            <a:avLst/>
          </a:prstGeom>
          <a:noFill/>
          <a:ln w="19050">
            <a:solidFill>
              <a:srgbClr val="2DD4BF"/>
            </a:solidFill>
            <a:prstDash val="solid"/>
            <a:tailEnd type="triangle"/>
          </a:ln>
        </p:spPr>
      </p:sp>
      <p:sp>
        <p:nvSpPr>
          <p:cNvPr id="21" name="Shape 18"/>
          <p:cNvSpPr/>
          <p:nvPr/>
        </p:nvSpPr>
        <p:spPr>
          <a:xfrm>
            <a:off x="7406640" y="1325880"/>
            <a:ext cx="1417320" cy="731520"/>
          </a:xfrm>
          <a:prstGeom prst="roundRect">
            <a:avLst>
              <a:gd name="adj" fmla="val 7500"/>
            </a:avLst>
          </a:prstGeom>
          <a:solidFill>
            <a:srgbClr val="15204A"/>
          </a:solidFill>
          <a:ln w="12700">
            <a:solidFill>
              <a:srgbClr val="2DD4BF"/>
            </a:solidFill>
            <a:prstDash val="solid"/>
          </a:ln>
        </p:spPr>
      </p:sp>
      <p:sp>
        <p:nvSpPr>
          <p:cNvPr id="22" name="Text 19"/>
          <p:cNvSpPr txBox="1"/>
          <p:nvPr/>
        </p:nvSpPr>
        <p:spPr>
          <a:xfrm>
            <a:off x="7406640" y="132588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Updated stock and reports</a:t>
            </a:r>
            <a:endParaRPr lang="en-US" sz="1000" dirty="0"/>
          </a:p>
        </p:txBody>
      </p:sp>
      <p:sp>
        <p:nvSpPr>
          <p:cNvPr id="23" name="Shape 20"/>
          <p:cNvSpPr/>
          <p:nvPr/>
        </p:nvSpPr>
        <p:spPr>
          <a:xfrm>
            <a:off x="457200" y="2514600"/>
            <a:ext cx="8229600" cy="0"/>
          </a:xfrm>
          <a:prstGeom prst="line">
            <a:avLst/>
          </a:prstGeom>
          <a:noFill/>
          <a:ln w="19050">
            <a:solidFill>
              <a:srgbClr val="FBBF24"/>
            </a:solidFill>
            <a:prstDash val="dash"/>
          </a:ln>
        </p:spPr>
      </p:sp>
      <p:sp>
        <p:nvSpPr>
          <p:cNvPr id="24" name="Text 21"/>
          <p:cNvSpPr txBox="1"/>
          <p:nvPr/>
        </p:nvSpPr>
        <p:spPr>
          <a:xfrm>
            <a:off x="457200" y="2606040"/>
            <a:ext cx="8229600" cy="274320"/>
          </a:xfrm>
          <a:prstGeom prst="rect">
            <a:avLst/>
          </a:prstGeom>
          <a:noFill/>
          <a:ln/>
        </p:spPr>
        <p:txBody>
          <a:bodyPr wrap="square" lIns="0" tIns="0" rIns="0" bIns="0" rtlCol="0" anchor="t"/>
          <a:lstStyle/>
          <a:p>
            <a:pPr algn="ctr" indent="0" marL="0">
              <a:buNone/>
            </a:pPr>
            <a:r>
              <a:rPr lang="en-US" sz="1200" b="1" dirty="0">
                <a:solidFill>
                  <a:srgbClr val="FBBF24"/>
                </a:solidFill>
              </a:rPr>
              <a:t>Website demo is not currently connected to MySQL.</a:t>
            </a:r>
            <a:endParaRPr lang="en-US" sz="1200" dirty="0"/>
          </a:p>
        </p:txBody>
      </p:sp>
      <p:sp>
        <p:nvSpPr>
          <p:cNvPr id="25" name="Text 22"/>
          <p:cNvSpPr txBox="1"/>
          <p:nvPr/>
        </p:nvSpPr>
        <p:spPr>
          <a:xfrm>
            <a:off x="457200" y="3017520"/>
            <a:ext cx="6400800" cy="228600"/>
          </a:xfrm>
          <a:prstGeom prst="rect">
            <a:avLst/>
          </a:prstGeom>
          <a:noFill/>
          <a:ln/>
        </p:spPr>
        <p:txBody>
          <a:bodyPr wrap="square" lIns="0" tIns="0" rIns="0" bIns="0" rtlCol="0" anchor="t"/>
          <a:lstStyle/>
          <a:p>
            <a:pPr indent="0" marL="0">
              <a:buNone/>
            </a:pPr>
            <a:r>
              <a:rPr lang="en-US" sz="1100" b="1" dirty="0">
                <a:solidFill>
                  <a:srgbClr val="A78BFA"/>
                </a:solidFill>
              </a:rPr>
              <a:t>B. WEBSITE DEMONSTRATION (StockPilot, browser only)</a:t>
            </a:r>
            <a:endParaRPr lang="en-US" sz="1100" dirty="0"/>
          </a:p>
        </p:txBody>
      </p:sp>
      <p:sp>
        <p:nvSpPr>
          <p:cNvPr id="26" name="Shape 23"/>
          <p:cNvSpPr/>
          <p:nvPr/>
        </p:nvSpPr>
        <p:spPr>
          <a:xfrm>
            <a:off x="457200" y="3337560"/>
            <a:ext cx="1417320" cy="731520"/>
          </a:xfrm>
          <a:prstGeom prst="roundRect">
            <a:avLst>
              <a:gd name="adj" fmla="val 7500"/>
            </a:avLst>
          </a:prstGeom>
          <a:solidFill>
            <a:srgbClr val="15204A"/>
          </a:solidFill>
          <a:ln w="12700">
            <a:solidFill>
              <a:srgbClr val="2DD4BF"/>
            </a:solidFill>
            <a:prstDash val="solid"/>
          </a:ln>
        </p:spPr>
      </p:sp>
      <p:sp>
        <p:nvSpPr>
          <p:cNvPr id="27" name="Text 24"/>
          <p:cNvSpPr txBox="1"/>
          <p:nvPr/>
        </p:nvSpPr>
        <p:spPr>
          <a:xfrm>
            <a:off x="457200" y="333756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User</a:t>
            </a:r>
            <a:endParaRPr lang="en-US" sz="1000" dirty="0"/>
          </a:p>
        </p:txBody>
      </p:sp>
      <p:sp>
        <p:nvSpPr>
          <p:cNvPr id="28" name="Shape 25"/>
          <p:cNvSpPr/>
          <p:nvPr/>
        </p:nvSpPr>
        <p:spPr>
          <a:xfrm>
            <a:off x="1874520" y="3703320"/>
            <a:ext cx="320040" cy="0"/>
          </a:xfrm>
          <a:prstGeom prst="line">
            <a:avLst/>
          </a:prstGeom>
          <a:noFill/>
          <a:ln w="19050">
            <a:solidFill>
              <a:srgbClr val="A78BFA"/>
            </a:solidFill>
            <a:prstDash val="solid"/>
            <a:tailEnd type="triangle"/>
          </a:ln>
        </p:spPr>
      </p:sp>
      <p:sp>
        <p:nvSpPr>
          <p:cNvPr id="29" name="Shape 26"/>
          <p:cNvSpPr/>
          <p:nvPr/>
        </p:nvSpPr>
        <p:spPr>
          <a:xfrm>
            <a:off x="2194560" y="3337560"/>
            <a:ext cx="1417320" cy="731520"/>
          </a:xfrm>
          <a:prstGeom prst="roundRect">
            <a:avLst>
              <a:gd name="adj" fmla="val 7500"/>
            </a:avLst>
          </a:prstGeom>
          <a:solidFill>
            <a:srgbClr val="15204A"/>
          </a:solidFill>
          <a:ln w="12700">
            <a:solidFill>
              <a:srgbClr val="2DD4BF"/>
            </a:solidFill>
            <a:prstDash val="solid"/>
          </a:ln>
        </p:spPr>
      </p:sp>
      <p:sp>
        <p:nvSpPr>
          <p:cNvPr id="30" name="Text 27"/>
          <p:cNvSpPr txBox="1"/>
          <p:nvPr/>
        </p:nvSpPr>
        <p:spPr>
          <a:xfrm>
            <a:off x="2194560" y="333756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Browser</a:t>
            </a:r>
            <a:endParaRPr lang="en-US" sz="1000" dirty="0"/>
          </a:p>
        </p:txBody>
      </p:sp>
      <p:sp>
        <p:nvSpPr>
          <p:cNvPr id="31" name="Shape 28"/>
          <p:cNvSpPr/>
          <p:nvPr/>
        </p:nvSpPr>
        <p:spPr>
          <a:xfrm>
            <a:off x="3611880" y="3703320"/>
            <a:ext cx="320040" cy="0"/>
          </a:xfrm>
          <a:prstGeom prst="line">
            <a:avLst/>
          </a:prstGeom>
          <a:noFill/>
          <a:ln w="19050">
            <a:solidFill>
              <a:srgbClr val="A78BFA"/>
            </a:solidFill>
            <a:prstDash val="solid"/>
            <a:tailEnd type="triangle"/>
          </a:ln>
        </p:spPr>
      </p:sp>
      <p:sp>
        <p:nvSpPr>
          <p:cNvPr id="32" name="Shape 29"/>
          <p:cNvSpPr/>
          <p:nvPr/>
        </p:nvSpPr>
        <p:spPr>
          <a:xfrm>
            <a:off x="3931920" y="3337560"/>
            <a:ext cx="1417320" cy="731520"/>
          </a:xfrm>
          <a:prstGeom prst="roundRect">
            <a:avLst>
              <a:gd name="adj" fmla="val 7500"/>
            </a:avLst>
          </a:prstGeom>
          <a:solidFill>
            <a:srgbClr val="15204A"/>
          </a:solidFill>
          <a:ln w="12700">
            <a:solidFill>
              <a:srgbClr val="2DD4BF"/>
            </a:solidFill>
            <a:prstDash val="solid"/>
          </a:ln>
        </p:spPr>
      </p:sp>
      <p:sp>
        <p:nvSpPr>
          <p:cNvPr id="33" name="Text 30"/>
          <p:cNvSpPr txBox="1"/>
          <p:nvPr/>
        </p:nvSpPr>
        <p:spPr>
          <a:xfrm>
            <a:off x="3931920" y="333756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HTML / CSS / JavaScript</a:t>
            </a:r>
            <a:endParaRPr lang="en-US" sz="1000" dirty="0"/>
          </a:p>
        </p:txBody>
      </p:sp>
      <p:sp>
        <p:nvSpPr>
          <p:cNvPr id="34" name="Shape 31"/>
          <p:cNvSpPr/>
          <p:nvPr/>
        </p:nvSpPr>
        <p:spPr>
          <a:xfrm>
            <a:off x="5349240" y="3703320"/>
            <a:ext cx="320040" cy="0"/>
          </a:xfrm>
          <a:prstGeom prst="line">
            <a:avLst/>
          </a:prstGeom>
          <a:noFill/>
          <a:ln w="19050">
            <a:solidFill>
              <a:srgbClr val="A78BFA"/>
            </a:solidFill>
            <a:prstDash val="solid"/>
            <a:tailEnd type="triangle"/>
          </a:ln>
        </p:spPr>
      </p:sp>
      <p:sp>
        <p:nvSpPr>
          <p:cNvPr id="35" name="Shape 32"/>
          <p:cNvSpPr/>
          <p:nvPr/>
        </p:nvSpPr>
        <p:spPr>
          <a:xfrm>
            <a:off x="5669280" y="3337560"/>
            <a:ext cx="1417320" cy="731520"/>
          </a:xfrm>
          <a:prstGeom prst="roundRect">
            <a:avLst>
              <a:gd name="adj" fmla="val 7500"/>
            </a:avLst>
          </a:prstGeom>
          <a:solidFill>
            <a:srgbClr val="15204A"/>
          </a:solidFill>
          <a:ln w="12700">
            <a:solidFill>
              <a:srgbClr val="2DD4BF"/>
            </a:solidFill>
            <a:prstDash val="solid"/>
          </a:ln>
        </p:spPr>
      </p:sp>
      <p:sp>
        <p:nvSpPr>
          <p:cNvPr id="36" name="Text 33"/>
          <p:cNvSpPr txBox="1"/>
          <p:nvPr/>
        </p:nvSpPr>
        <p:spPr>
          <a:xfrm>
            <a:off x="5669280" y="333756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Browser local storage</a:t>
            </a:r>
            <a:endParaRPr lang="en-US" sz="1000" dirty="0"/>
          </a:p>
        </p:txBody>
      </p:sp>
      <p:sp>
        <p:nvSpPr>
          <p:cNvPr id="37" name="Shape 34"/>
          <p:cNvSpPr/>
          <p:nvPr/>
        </p:nvSpPr>
        <p:spPr>
          <a:xfrm>
            <a:off x="7086600" y="3703320"/>
            <a:ext cx="320040" cy="0"/>
          </a:xfrm>
          <a:prstGeom prst="line">
            <a:avLst/>
          </a:prstGeom>
          <a:noFill/>
          <a:ln w="19050">
            <a:solidFill>
              <a:srgbClr val="A78BFA"/>
            </a:solidFill>
            <a:prstDash val="solid"/>
            <a:tailEnd type="triangle"/>
          </a:ln>
        </p:spPr>
      </p:sp>
      <p:sp>
        <p:nvSpPr>
          <p:cNvPr id="38" name="Shape 35"/>
          <p:cNvSpPr/>
          <p:nvPr/>
        </p:nvSpPr>
        <p:spPr>
          <a:xfrm>
            <a:off x="7406640" y="3337560"/>
            <a:ext cx="1417320" cy="731520"/>
          </a:xfrm>
          <a:prstGeom prst="roundRect">
            <a:avLst>
              <a:gd name="adj" fmla="val 7500"/>
            </a:avLst>
          </a:prstGeom>
          <a:solidFill>
            <a:srgbClr val="15204A"/>
          </a:solidFill>
          <a:ln w="12700">
            <a:solidFill>
              <a:srgbClr val="2DD4BF"/>
            </a:solidFill>
            <a:prstDash val="solid"/>
          </a:ln>
        </p:spPr>
      </p:sp>
      <p:sp>
        <p:nvSpPr>
          <p:cNvPr id="39" name="Text 36"/>
          <p:cNvSpPr txBox="1"/>
          <p:nvPr/>
        </p:nvSpPr>
        <p:spPr>
          <a:xfrm>
            <a:off x="7406640" y="3337560"/>
            <a:ext cx="1417320" cy="731520"/>
          </a:xfrm>
          <a:prstGeom prst="rect">
            <a:avLst/>
          </a:prstGeom>
          <a:noFill/>
          <a:ln/>
        </p:spPr>
        <p:txBody>
          <a:bodyPr wrap="square" lIns="38100" tIns="38100" rIns="38100" bIns="38100" rtlCol="0" anchor="ctr"/>
          <a:lstStyle/>
          <a:p>
            <a:pPr algn="ctr" indent="0" marL="0">
              <a:buNone/>
            </a:pPr>
            <a:r>
              <a:rPr lang="en-US" sz="1000" b="1" dirty="0">
                <a:solidFill>
                  <a:srgbClr val="FFFFFF"/>
                </a:solidFill>
              </a:rPr>
              <a:t>Demo dashboard and reports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Entity-Relationship Diagram</a:t>
            </a:r>
            <a:endParaRPr lang="en-US" sz="2200" dirty="0"/>
          </a:p>
        </p:txBody>
      </p:sp>
      <p:sp>
        <p:nvSpPr>
          <p:cNvPr id="4" name="Text 2"/>
          <p:cNvSpPr txBox="1"/>
          <p:nvPr/>
        </p:nvSpPr>
        <p:spPr>
          <a:xfrm>
            <a:off x="640080" y="658368"/>
            <a:ext cx="8046720" cy="228600"/>
          </a:xfrm>
          <a:prstGeom prst="rect">
            <a:avLst/>
          </a:prstGeom>
          <a:noFill/>
          <a:ln/>
        </p:spPr>
        <p:txBody>
          <a:bodyPr wrap="square" lIns="0" tIns="0" rIns="0" bIns="0" rtlCol="0" anchor="ctr"/>
          <a:lstStyle/>
          <a:p>
            <a:pPr indent="0" marL="0">
              <a:buNone/>
            </a:pPr>
            <a:r>
              <a:rPr lang="en-US" sz="1100" dirty="0">
                <a:solidFill>
                  <a:srgbClr val="A9B4D6"/>
                </a:solidFill>
              </a:rPr>
              <a:t>Primary keys underlined, foreign keys marked FK</a:t>
            </a:r>
            <a:endParaRPr lang="en-US" sz="1100" dirty="0"/>
          </a:p>
        </p:txBody>
      </p:sp>
      <p:sp>
        <p:nvSpPr>
          <p:cNvPr id="5" name="Text 3"/>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5 / 12</a:t>
            </a:r>
            <a:endParaRPr lang="en-US" sz="9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8" name="Shape 5"/>
          <p:cNvSpPr/>
          <p:nvPr/>
        </p:nvSpPr>
        <p:spPr>
          <a:xfrm>
            <a:off x="457200" y="1097280"/>
            <a:ext cx="2011680" cy="896112"/>
          </a:xfrm>
          <a:prstGeom prst="rect">
            <a:avLst/>
          </a:prstGeom>
          <a:solidFill>
            <a:srgbClr val="15204A"/>
          </a:solidFill>
          <a:ln w="15240">
            <a:solidFill>
              <a:srgbClr val="2DD4BF"/>
            </a:solidFill>
            <a:prstDash val="solid"/>
          </a:ln>
        </p:spPr>
      </p:sp>
      <p:sp>
        <p:nvSpPr>
          <p:cNvPr id="9" name="Shape 6"/>
          <p:cNvSpPr/>
          <p:nvPr/>
        </p:nvSpPr>
        <p:spPr>
          <a:xfrm>
            <a:off x="457200" y="1097280"/>
            <a:ext cx="2011680" cy="274320"/>
          </a:xfrm>
          <a:prstGeom prst="rect">
            <a:avLst/>
          </a:prstGeom>
          <a:solidFill>
            <a:srgbClr val="1E2A66"/>
          </a:solidFill>
          <a:ln w="15240">
            <a:solidFill>
              <a:srgbClr val="2DD4BF"/>
            </a:solidFill>
            <a:prstDash val="solid"/>
          </a:ln>
        </p:spPr>
      </p:sp>
      <p:sp>
        <p:nvSpPr>
          <p:cNvPr id="10" name="Text 7"/>
          <p:cNvSpPr txBox="1"/>
          <p:nvPr/>
        </p:nvSpPr>
        <p:spPr>
          <a:xfrm>
            <a:off x="457200" y="1097280"/>
            <a:ext cx="2011680" cy="274320"/>
          </a:xfrm>
          <a:prstGeom prst="rect">
            <a:avLst/>
          </a:prstGeom>
          <a:noFill/>
          <a:ln/>
        </p:spPr>
        <p:txBody>
          <a:bodyPr wrap="square" lIns="0" tIns="0" rIns="0" bIns="0" rtlCol="0" anchor="ctr"/>
          <a:lstStyle/>
          <a:p>
            <a:pPr algn="ctr" indent="0" marL="0">
              <a:buNone/>
            </a:pPr>
            <a:r>
              <a:rPr lang="en-US" sz="1100" b="1" dirty="0">
                <a:solidFill>
                  <a:srgbClr val="2DD4BF"/>
                </a:solidFill>
              </a:rPr>
              <a:t>CATEGORIES</a:t>
            </a:r>
            <a:endParaRPr lang="en-US" sz="1100" dirty="0"/>
          </a:p>
        </p:txBody>
      </p:sp>
      <p:sp>
        <p:nvSpPr>
          <p:cNvPr id="11" name="Text 8"/>
          <p:cNvSpPr txBox="1"/>
          <p:nvPr/>
        </p:nvSpPr>
        <p:spPr>
          <a:xfrm>
            <a:off x="566928" y="1426464"/>
            <a:ext cx="1828800" cy="530352"/>
          </a:xfrm>
          <a:prstGeom prst="rect">
            <a:avLst/>
          </a:prstGeom>
          <a:noFill/>
          <a:ln/>
        </p:spPr>
        <p:txBody>
          <a:bodyPr wrap="square" lIns="0" tIns="0" rIns="0" bIns="0" rtlCol="0" anchor="t"/>
          <a:lstStyle/>
          <a:p>
            <a:pPr indent="0" marL="0">
              <a:spcAft>
                <a:spcPts val="150"/>
              </a:spcAft>
              <a:buNone/>
            </a:pPr>
            <a:r>
              <a:rPr lang="en-US" sz="950" b="1" u="sng" dirty="0">
                <a:solidFill>
                  <a:srgbClr val="FFFFFF"/>
                </a:solidFill>
              </a:rPr>
              <a:t>category_id</a:t>
            </a:r>
            <a:pPr indent="0" marL="0">
              <a:spcAft>
                <a:spcPts val="150"/>
              </a:spcAft>
              <a:buNone/>
            </a:pPr>
            <a:r>
              <a:rPr lang="en-US" sz="800" dirty="0">
                <a:solidFill>
                  <a:srgbClr val="FBBF24"/>
                </a:solidFill>
              </a:rPr>
              <a:t>  PK</a:t>
            </a:r>
            <a:endParaRPr lang="en-US" sz="950" dirty="0"/>
          </a:p>
          <a:p>
            <a:pPr indent="0" marL="0">
              <a:spcAft>
                <a:spcPts val="150"/>
              </a:spcAft>
              <a:buNone/>
            </a:pPr>
            <a:r>
              <a:rPr lang="en-US" sz="950" dirty="0">
                <a:solidFill>
                  <a:srgbClr val="FFFFFF"/>
                </a:solidFill>
              </a:rPr>
              <a:t>category_name</a:t>
            </a:r>
            <a:endParaRPr lang="en-US" sz="950" dirty="0"/>
          </a:p>
          <a:p>
            <a:pPr indent="0" marL="0">
              <a:spcAft>
                <a:spcPts val="150"/>
              </a:spcAft>
              <a:buNone/>
            </a:pPr>
            <a:r>
              <a:rPr lang="en-US" sz="950" dirty="0">
                <a:solidFill>
                  <a:srgbClr val="FFFFFF"/>
                </a:solidFill>
              </a:rPr>
              <a:t>description</a:t>
            </a:r>
            <a:endParaRPr lang="en-US" sz="950" dirty="0"/>
          </a:p>
        </p:txBody>
      </p:sp>
      <p:sp>
        <p:nvSpPr>
          <p:cNvPr id="12" name="Shape 9"/>
          <p:cNvSpPr/>
          <p:nvPr/>
        </p:nvSpPr>
        <p:spPr>
          <a:xfrm>
            <a:off x="457200" y="2331720"/>
            <a:ext cx="2011680" cy="1444752"/>
          </a:xfrm>
          <a:prstGeom prst="rect">
            <a:avLst/>
          </a:prstGeom>
          <a:solidFill>
            <a:srgbClr val="15204A"/>
          </a:solidFill>
          <a:ln w="15240">
            <a:solidFill>
              <a:srgbClr val="2DD4BF"/>
            </a:solidFill>
            <a:prstDash val="solid"/>
          </a:ln>
        </p:spPr>
      </p:sp>
      <p:sp>
        <p:nvSpPr>
          <p:cNvPr id="13" name="Shape 10"/>
          <p:cNvSpPr/>
          <p:nvPr/>
        </p:nvSpPr>
        <p:spPr>
          <a:xfrm>
            <a:off x="457200" y="2331720"/>
            <a:ext cx="2011680" cy="274320"/>
          </a:xfrm>
          <a:prstGeom prst="rect">
            <a:avLst/>
          </a:prstGeom>
          <a:solidFill>
            <a:srgbClr val="1E2A66"/>
          </a:solidFill>
          <a:ln w="15240">
            <a:solidFill>
              <a:srgbClr val="2DD4BF"/>
            </a:solidFill>
            <a:prstDash val="solid"/>
          </a:ln>
        </p:spPr>
      </p:sp>
      <p:sp>
        <p:nvSpPr>
          <p:cNvPr id="14" name="Text 11"/>
          <p:cNvSpPr txBox="1"/>
          <p:nvPr/>
        </p:nvSpPr>
        <p:spPr>
          <a:xfrm>
            <a:off x="457200" y="2331720"/>
            <a:ext cx="2011680" cy="274320"/>
          </a:xfrm>
          <a:prstGeom prst="rect">
            <a:avLst/>
          </a:prstGeom>
          <a:noFill/>
          <a:ln/>
        </p:spPr>
        <p:txBody>
          <a:bodyPr wrap="square" lIns="0" tIns="0" rIns="0" bIns="0" rtlCol="0" anchor="ctr"/>
          <a:lstStyle/>
          <a:p>
            <a:pPr algn="ctr" indent="0" marL="0">
              <a:buNone/>
            </a:pPr>
            <a:r>
              <a:rPr lang="en-US" sz="1100" b="1" dirty="0">
                <a:solidFill>
                  <a:srgbClr val="2DD4BF"/>
                </a:solidFill>
              </a:rPr>
              <a:t>SUPPLIERS</a:t>
            </a:r>
            <a:endParaRPr lang="en-US" sz="1100" dirty="0"/>
          </a:p>
        </p:txBody>
      </p:sp>
      <p:sp>
        <p:nvSpPr>
          <p:cNvPr id="15" name="Text 12"/>
          <p:cNvSpPr txBox="1"/>
          <p:nvPr/>
        </p:nvSpPr>
        <p:spPr>
          <a:xfrm>
            <a:off x="566928" y="2660904"/>
            <a:ext cx="1828800" cy="1078992"/>
          </a:xfrm>
          <a:prstGeom prst="rect">
            <a:avLst/>
          </a:prstGeom>
          <a:noFill/>
          <a:ln/>
        </p:spPr>
        <p:txBody>
          <a:bodyPr wrap="square" lIns="0" tIns="0" rIns="0" bIns="0" rtlCol="0" anchor="t"/>
          <a:lstStyle/>
          <a:p>
            <a:pPr indent="0" marL="0">
              <a:spcAft>
                <a:spcPts val="150"/>
              </a:spcAft>
              <a:buNone/>
            </a:pPr>
            <a:r>
              <a:rPr lang="en-US" sz="950" b="1" u="sng" dirty="0">
                <a:solidFill>
                  <a:srgbClr val="FFFFFF"/>
                </a:solidFill>
              </a:rPr>
              <a:t>supplier_id</a:t>
            </a:r>
            <a:pPr indent="0" marL="0">
              <a:spcAft>
                <a:spcPts val="150"/>
              </a:spcAft>
              <a:buNone/>
            </a:pPr>
            <a:r>
              <a:rPr lang="en-US" sz="800" dirty="0">
                <a:solidFill>
                  <a:srgbClr val="FBBF24"/>
                </a:solidFill>
              </a:rPr>
              <a:t>  PK</a:t>
            </a:r>
            <a:endParaRPr lang="en-US" sz="950" dirty="0"/>
          </a:p>
          <a:p>
            <a:pPr indent="0" marL="0">
              <a:spcAft>
                <a:spcPts val="150"/>
              </a:spcAft>
              <a:buNone/>
            </a:pPr>
            <a:r>
              <a:rPr lang="en-US" sz="950" dirty="0">
                <a:solidFill>
                  <a:srgbClr val="FFFFFF"/>
                </a:solidFill>
              </a:rPr>
              <a:t>supplier_name</a:t>
            </a:r>
            <a:endParaRPr lang="en-US" sz="950" dirty="0"/>
          </a:p>
          <a:p>
            <a:pPr indent="0" marL="0">
              <a:spcAft>
                <a:spcPts val="150"/>
              </a:spcAft>
              <a:buNone/>
            </a:pPr>
            <a:r>
              <a:rPr lang="en-US" sz="950" dirty="0">
                <a:solidFill>
                  <a:srgbClr val="FFFFFF"/>
                </a:solidFill>
              </a:rPr>
              <a:t>contact_person</a:t>
            </a:r>
            <a:endParaRPr lang="en-US" sz="950" dirty="0"/>
          </a:p>
          <a:p>
            <a:pPr indent="0" marL="0">
              <a:spcAft>
                <a:spcPts val="150"/>
              </a:spcAft>
              <a:buNone/>
            </a:pPr>
            <a:r>
              <a:rPr lang="en-US" sz="950" dirty="0">
                <a:solidFill>
                  <a:srgbClr val="FFFFFF"/>
                </a:solidFill>
              </a:rPr>
              <a:t>phone</a:t>
            </a:r>
            <a:endParaRPr lang="en-US" sz="950" dirty="0"/>
          </a:p>
          <a:p>
            <a:pPr indent="0" marL="0">
              <a:spcAft>
                <a:spcPts val="150"/>
              </a:spcAft>
              <a:buNone/>
            </a:pPr>
            <a:r>
              <a:rPr lang="en-US" sz="950" dirty="0">
                <a:solidFill>
                  <a:srgbClr val="FFFFFF"/>
                </a:solidFill>
              </a:rPr>
              <a:t>email</a:t>
            </a:r>
            <a:endParaRPr lang="en-US" sz="950" dirty="0"/>
          </a:p>
          <a:p>
            <a:pPr indent="0" marL="0">
              <a:spcAft>
                <a:spcPts val="150"/>
              </a:spcAft>
              <a:buNone/>
            </a:pPr>
            <a:r>
              <a:rPr lang="en-US" sz="950" dirty="0">
                <a:solidFill>
                  <a:srgbClr val="FFFFFF"/>
                </a:solidFill>
              </a:rPr>
              <a:t>address</a:t>
            </a:r>
            <a:endParaRPr lang="en-US" sz="950" dirty="0"/>
          </a:p>
        </p:txBody>
      </p:sp>
      <p:sp>
        <p:nvSpPr>
          <p:cNvPr id="16" name="Shape 13"/>
          <p:cNvSpPr/>
          <p:nvPr/>
        </p:nvSpPr>
        <p:spPr>
          <a:xfrm>
            <a:off x="3520440" y="1097280"/>
            <a:ext cx="2194560" cy="1810512"/>
          </a:xfrm>
          <a:prstGeom prst="rect">
            <a:avLst/>
          </a:prstGeom>
          <a:solidFill>
            <a:srgbClr val="15204A"/>
          </a:solidFill>
          <a:ln w="15240">
            <a:solidFill>
              <a:srgbClr val="2DD4BF"/>
            </a:solidFill>
            <a:prstDash val="solid"/>
          </a:ln>
        </p:spPr>
      </p:sp>
      <p:sp>
        <p:nvSpPr>
          <p:cNvPr id="17" name="Shape 14"/>
          <p:cNvSpPr/>
          <p:nvPr/>
        </p:nvSpPr>
        <p:spPr>
          <a:xfrm>
            <a:off x="3520440" y="1097280"/>
            <a:ext cx="2194560" cy="274320"/>
          </a:xfrm>
          <a:prstGeom prst="rect">
            <a:avLst/>
          </a:prstGeom>
          <a:solidFill>
            <a:srgbClr val="1E2A66"/>
          </a:solidFill>
          <a:ln w="15240">
            <a:solidFill>
              <a:srgbClr val="2DD4BF"/>
            </a:solidFill>
            <a:prstDash val="solid"/>
          </a:ln>
        </p:spPr>
      </p:sp>
      <p:sp>
        <p:nvSpPr>
          <p:cNvPr id="18" name="Text 15"/>
          <p:cNvSpPr txBox="1"/>
          <p:nvPr/>
        </p:nvSpPr>
        <p:spPr>
          <a:xfrm>
            <a:off x="3520440" y="1097280"/>
            <a:ext cx="2194560" cy="274320"/>
          </a:xfrm>
          <a:prstGeom prst="rect">
            <a:avLst/>
          </a:prstGeom>
          <a:noFill/>
          <a:ln/>
        </p:spPr>
        <p:txBody>
          <a:bodyPr wrap="square" lIns="0" tIns="0" rIns="0" bIns="0" rtlCol="0" anchor="ctr"/>
          <a:lstStyle/>
          <a:p>
            <a:pPr algn="ctr" indent="0" marL="0">
              <a:buNone/>
            </a:pPr>
            <a:r>
              <a:rPr lang="en-US" sz="1100" b="1" dirty="0">
                <a:solidFill>
                  <a:srgbClr val="2DD4BF"/>
                </a:solidFill>
              </a:rPr>
              <a:t>PRODUCTS</a:t>
            </a:r>
            <a:endParaRPr lang="en-US" sz="1100" dirty="0"/>
          </a:p>
        </p:txBody>
      </p:sp>
      <p:sp>
        <p:nvSpPr>
          <p:cNvPr id="19" name="Text 16"/>
          <p:cNvSpPr txBox="1"/>
          <p:nvPr/>
        </p:nvSpPr>
        <p:spPr>
          <a:xfrm>
            <a:off x="3630168" y="1426464"/>
            <a:ext cx="2011680" cy="1444752"/>
          </a:xfrm>
          <a:prstGeom prst="rect">
            <a:avLst/>
          </a:prstGeom>
          <a:noFill/>
          <a:ln/>
        </p:spPr>
        <p:txBody>
          <a:bodyPr wrap="square" lIns="0" tIns="0" rIns="0" bIns="0" rtlCol="0" anchor="t"/>
          <a:lstStyle/>
          <a:p>
            <a:pPr indent="0" marL="0">
              <a:spcAft>
                <a:spcPts val="150"/>
              </a:spcAft>
              <a:buNone/>
            </a:pPr>
            <a:r>
              <a:rPr lang="en-US" sz="950" b="1" u="sng" dirty="0">
                <a:solidFill>
                  <a:srgbClr val="FFFFFF"/>
                </a:solidFill>
              </a:rPr>
              <a:t>product_id</a:t>
            </a:r>
            <a:pPr indent="0" marL="0">
              <a:spcAft>
                <a:spcPts val="150"/>
              </a:spcAft>
              <a:buNone/>
            </a:pPr>
            <a:r>
              <a:rPr lang="en-US" sz="800" dirty="0">
                <a:solidFill>
                  <a:srgbClr val="FBBF24"/>
                </a:solidFill>
              </a:rPr>
              <a:t>  PK</a:t>
            </a:r>
            <a:endParaRPr lang="en-US" sz="950" dirty="0"/>
          </a:p>
          <a:p>
            <a:pPr indent="0" marL="0">
              <a:spcAft>
                <a:spcPts val="150"/>
              </a:spcAft>
              <a:buNone/>
            </a:pPr>
            <a:r>
              <a:rPr lang="en-US" sz="950" dirty="0">
                <a:solidFill>
                  <a:srgbClr val="FFFFFF"/>
                </a:solidFill>
              </a:rPr>
              <a:t>product_name</a:t>
            </a:r>
            <a:endParaRPr lang="en-US" sz="950" dirty="0"/>
          </a:p>
          <a:p>
            <a:pPr indent="0" marL="0">
              <a:spcAft>
                <a:spcPts val="150"/>
              </a:spcAft>
              <a:buNone/>
            </a:pPr>
            <a:r>
              <a:rPr lang="en-US" sz="950" dirty="0">
                <a:solidFill>
                  <a:srgbClr val="A78BFA"/>
                </a:solidFill>
              </a:rPr>
              <a:t>category_id</a:t>
            </a:r>
            <a:pPr indent="0" marL="0">
              <a:spcAft>
                <a:spcPts val="150"/>
              </a:spcAft>
              <a:buNone/>
            </a:pPr>
            <a:r>
              <a:rPr lang="en-US" sz="800" b="1" dirty="0">
                <a:solidFill>
                  <a:srgbClr val="A78BFA"/>
                </a:solidFill>
              </a:rPr>
              <a:t>  FK</a:t>
            </a:r>
            <a:endParaRPr lang="en-US" sz="950" dirty="0"/>
          </a:p>
          <a:p>
            <a:pPr indent="0" marL="0">
              <a:spcAft>
                <a:spcPts val="150"/>
              </a:spcAft>
              <a:buNone/>
            </a:pPr>
            <a:r>
              <a:rPr lang="en-US" sz="950" dirty="0">
                <a:solidFill>
                  <a:srgbClr val="A78BFA"/>
                </a:solidFill>
              </a:rPr>
              <a:t>supplier_id</a:t>
            </a:r>
            <a:pPr indent="0" marL="0">
              <a:spcAft>
                <a:spcPts val="150"/>
              </a:spcAft>
              <a:buNone/>
            </a:pPr>
            <a:r>
              <a:rPr lang="en-US" sz="800" b="1" dirty="0">
                <a:solidFill>
                  <a:srgbClr val="A78BFA"/>
                </a:solidFill>
              </a:rPr>
              <a:t>  FK</a:t>
            </a:r>
            <a:endParaRPr lang="en-US" sz="950" dirty="0"/>
          </a:p>
          <a:p>
            <a:pPr indent="0" marL="0">
              <a:spcAft>
                <a:spcPts val="150"/>
              </a:spcAft>
              <a:buNone/>
            </a:pPr>
            <a:r>
              <a:rPr lang="en-US" sz="950" dirty="0">
                <a:solidFill>
                  <a:srgbClr val="FFFFFF"/>
                </a:solidFill>
              </a:rPr>
              <a:t>unit_price</a:t>
            </a:r>
            <a:endParaRPr lang="en-US" sz="950" dirty="0"/>
          </a:p>
          <a:p>
            <a:pPr indent="0" marL="0">
              <a:spcAft>
                <a:spcPts val="150"/>
              </a:spcAft>
              <a:buNone/>
            </a:pPr>
            <a:r>
              <a:rPr lang="en-US" sz="950" dirty="0">
                <a:solidFill>
                  <a:srgbClr val="FFFFFF"/>
                </a:solidFill>
              </a:rPr>
              <a:t>current_stock</a:t>
            </a:r>
            <a:endParaRPr lang="en-US" sz="950" dirty="0"/>
          </a:p>
          <a:p>
            <a:pPr indent="0" marL="0">
              <a:spcAft>
                <a:spcPts val="150"/>
              </a:spcAft>
              <a:buNone/>
            </a:pPr>
            <a:r>
              <a:rPr lang="en-US" sz="950" dirty="0">
                <a:solidFill>
                  <a:srgbClr val="FFFFFF"/>
                </a:solidFill>
              </a:rPr>
              <a:t>reorder_level</a:t>
            </a:r>
            <a:endParaRPr lang="en-US" sz="950" dirty="0"/>
          </a:p>
          <a:p>
            <a:pPr indent="0" marL="0">
              <a:spcAft>
                <a:spcPts val="150"/>
              </a:spcAft>
              <a:buNone/>
            </a:pPr>
            <a:r>
              <a:rPr lang="en-US" sz="950" dirty="0">
                <a:solidFill>
                  <a:srgbClr val="FFFFFF"/>
                </a:solidFill>
              </a:rPr>
              <a:t>created_at</a:t>
            </a:r>
            <a:endParaRPr lang="en-US" sz="950" dirty="0"/>
          </a:p>
        </p:txBody>
      </p:sp>
      <p:sp>
        <p:nvSpPr>
          <p:cNvPr id="20" name="Shape 17"/>
          <p:cNvSpPr/>
          <p:nvPr/>
        </p:nvSpPr>
        <p:spPr>
          <a:xfrm>
            <a:off x="6583680" y="1097280"/>
            <a:ext cx="2194560" cy="1444752"/>
          </a:xfrm>
          <a:prstGeom prst="rect">
            <a:avLst/>
          </a:prstGeom>
          <a:solidFill>
            <a:srgbClr val="15204A"/>
          </a:solidFill>
          <a:ln w="15240">
            <a:solidFill>
              <a:srgbClr val="2DD4BF"/>
            </a:solidFill>
            <a:prstDash val="solid"/>
          </a:ln>
        </p:spPr>
      </p:sp>
      <p:sp>
        <p:nvSpPr>
          <p:cNvPr id="21" name="Shape 18"/>
          <p:cNvSpPr/>
          <p:nvPr/>
        </p:nvSpPr>
        <p:spPr>
          <a:xfrm>
            <a:off x="6583680" y="1097280"/>
            <a:ext cx="2194560" cy="274320"/>
          </a:xfrm>
          <a:prstGeom prst="rect">
            <a:avLst/>
          </a:prstGeom>
          <a:solidFill>
            <a:srgbClr val="1E2A66"/>
          </a:solidFill>
          <a:ln w="15240">
            <a:solidFill>
              <a:srgbClr val="2DD4BF"/>
            </a:solidFill>
            <a:prstDash val="solid"/>
          </a:ln>
        </p:spPr>
      </p:sp>
      <p:sp>
        <p:nvSpPr>
          <p:cNvPr id="22" name="Text 19"/>
          <p:cNvSpPr txBox="1"/>
          <p:nvPr/>
        </p:nvSpPr>
        <p:spPr>
          <a:xfrm>
            <a:off x="6583680" y="1097280"/>
            <a:ext cx="2194560" cy="274320"/>
          </a:xfrm>
          <a:prstGeom prst="rect">
            <a:avLst/>
          </a:prstGeom>
          <a:noFill/>
          <a:ln/>
        </p:spPr>
        <p:txBody>
          <a:bodyPr wrap="square" lIns="0" tIns="0" rIns="0" bIns="0" rtlCol="0" anchor="ctr"/>
          <a:lstStyle/>
          <a:p>
            <a:pPr algn="ctr" indent="0" marL="0">
              <a:buNone/>
            </a:pPr>
            <a:r>
              <a:rPr lang="en-US" sz="1100" b="1" dirty="0">
                <a:solidFill>
                  <a:srgbClr val="2DD4BF"/>
                </a:solidFill>
              </a:rPr>
              <a:t>STOCK_TRANSACTIONS</a:t>
            </a:r>
            <a:endParaRPr lang="en-US" sz="1100" dirty="0"/>
          </a:p>
        </p:txBody>
      </p:sp>
      <p:sp>
        <p:nvSpPr>
          <p:cNvPr id="23" name="Text 20"/>
          <p:cNvSpPr txBox="1"/>
          <p:nvPr/>
        </p:nvSpPr>
        <p:spPr>
          <a:xfrm>
            <a:off x="6693408" y="1426464"/>
            <a:ext cx="2011680" cy="1078992"/>
          </a:xfrm>
          <a:prstGeom prst="rect">
            <a:avLst/>
          </a:prstGeom>
          <a:noFill/>
          <a:ln/>
        </p:spPr>
        <p:txBody>
          <a:bodyPr wrap="square" lIns="0" tIns="0" rIns="0" bIns="0" rtlCol="0" anchor="t"/>
          <a:lstStyle/>
          <a:p>
            <a:pPr indent="0" marL="0">
              <a:spcAft>
                <a:spcPts val="150"/>
              </a:spcAft>
              <a:buNone/>
            </a:pPr>
            <a:r>
              <a:rPr lang="en-US" sz="950" b="1" u="sng" dirty="0">
                <a:solidFill>
                  <a:srgbClr val="FFFFFF"/>
                </a:solidFill>
              </a:rPr>
              <a:t>transaction_id</a:t>
            </a:r>
            <a:pPr indent="0" marL="0">
              <a:spcAft>
                <a:spcPts val="150"/>
              </a:spcAft>
              <a:buNone/>
            </a:pPr>
            <a:r>
              <a:rPr lang="en-US" sz="800" dirty="0">
                <a:solidFill>
                  <a:srgbClr val="FBBF24"/>
                </a:solidFill>
              </a:rPr>
              <a:t>  PK</a:t>
            </a:r>
            <a:endParaRPr lang="en-US" sz="950" dirty="0"/>
          </a:p>
          <a:p>
            <a:pPr indent="0" marL="0">
              <a:spcAft>
                <a:spcPts val="150"/>
              </a:spcAft>
              <a:buNone/>
            </a:pPr>
            <a:r>
              <a:rPr lang="en-US" sz="950" dirty="0">
                <a:solidFill>
                  <a:srgbClr val="A78BFA"/>
                </a:solidFill>
              </a:rPr>
              <a:t>product_id</a:t>
            </a:r>
            <a:pPr indent="0" marL="0">
              <a:spcAft>
                <a:spcPts val="150"/>
              </a:spcAft>
              <a:buNone/>
            </a:pPr>
            <a:r>
              <a:rPr lang="en-US" sz="800" b="1" dirty="0">
                <a:solidFill>
                  <a:srgbClr val="A78BFA"/>
                </a:solidFill>
              </a:rPr>
              <a:t>  FK</a:t>
            </a:r>
            <a:endParaRPr lang="en-US" sz="950" dirty="0"/>
          </a:p>
          <a:p>
            <a:pPr indent="0" marL="0">
              <a:spcAft>
                <a:spcPts val="150"/>
              </a:spcAft>
              <a:buNone/>
            </a:pPr>
            <a:r>
              <a:rPr lang="en-US" sz="950" dirty="0">
                <a:solidFill>
                  <a:srgbClr val="FFFFFF"/>
                </a:solidFill>
              </a:rPr>
              <a:t>transaction_type</a:t>
            </a:r>
            <a:endParaRPr lang="en-US" sz="950" dirty="0"/>
          </a:p>
          <a:p>
            <a:pPr indent="0" marL="0">
              <a:spcAft>
                <a:spcPts val="150"/>
              </a:spcAft>
              <a:buNone/>
            </a:pPr>
            <a:r>
              <a:rPr lang="en-US" sz="950" dirty="0">
                <a:solidFill>
                  <a:srgbClr val="FFFFFF"/>
                </a:solidFill>
              </a:rPr>
              <a:t>quantity</a:t>
            </a:r>
            <a:endParaRPr lang="en-US" sz="950" dirty="0"/>
          </a:p>
          <a:p>
            <a:pPr indent="0" marL="0">
              <a:spcAft>
                <a:spcPts val="150"/>
              </a:spcAft>
              <a:buNone/>
            </a:pPr>
            <a:r>
              <a:rPr lang="en-US" sz="950" dirty="0">
                <a:solidFill>
                  <a:srgbClr val="FFFFFF"/>
                </a:solidFill>
              </a:rPr>
              <a:t>transaction_date</a:t>
            </a:r>
            <a:endParaRPr lang="en-US" sz="950" dirty="0"/>
          </a:p>
          <a:p>
            <a:pPr indent="0" marL="0">
              <a:spcAft>
                <a:spcPts val="150"/>
              </a:spcAft>
              <a:buNone/>
            </a:pPr>
            <a:r>
              <a:rPr lang="en-US" sz="950" dirty="0">
                <a:solidFill>
                  <a:srgbClr val="FFFFFF"/>
                </a:solidFill>
              </a:rPr>
              <a:t>remarks</a:t>
            </a:r>
            <a:endParaRPr lang="en-US" sz="950" dirty="0"/>
          </a:p>
        </p:txBody>
      </p:sp>
      <p:sp>
        <p:nvSpPr>
          <p:cNvPr id="24" name="Shape 21"/>
          <p:cNvSpPr/>
          <p:nvPr/>
        </p:nvSpPr>
        <p:spPr>
          <a:xfrm>
            <a:off x="2468880" y="1463040"/>
            <a:ext cx="1051560" cy="0"/>
          </a:xfrm>
          <a:prstGeom prst="line">
            <a:avLst/>
          </a:prstGeom>
          <a:noFill/>
          <a:ln w="19050">
            <a:solidFill>
              <a:srgbClr val="A9B4D6"/>
            </a:solidFill>
            <a:prstDash val="solid"/>
          </a:ln>
        </p:spPr>
      </p:sp>
      <p:sp>
        <p:nvSpPr>
          <p:cNvPr id="25" name="Shape 22"/>
          <p:cNvSpPr/>
          <p:nvPr/>
        </p:nvSpPr>
        <p:spPr>
          <a:xfrm flipV="1">
            <a:off x="2468880" y="2651760"/>
            <a:ext cx="1051560" cy="91440"/>
          </a:xfrm>
          <a:prstGeom prst="line">
            <a:avLst/>
          </a:prstGeom>
          <a:noFill/>
          <a:ln w="19050">
            <a:solidFill>
              <a:srgbClr val="A9B4D6"/>
            </a:solidFill>
            <a:prstDash val="solid"/>
          </a:ln>
        </p:spPr>
      </p:sp>
      <p:sp>
        <p:nvSpPr>
          <p:cNvPr id="26" name="Shape 23"/>
          <p:cNvSpPr/>
          <p:nvPr/>
        </p:nvSpPr>
        <p:spPr>
          <a:xfrm>
            <a:off x="5715000" y="1645920"/>
            <a:ext cx="868680" cy="0"/>
          </a:xfrm>
          <a:prstGeom prst="line">
            <a:avLst/>
          </a:prstGeom>
          <a:noFill/>
          <a:ln w="19050">
            <a:solidFill>
              <a:srgbClr val="A9B4D6"/>
            </a:solidFill>
            <a:prstDash val="solid"/>
          </a:ln>
        </p:spPr>
      </p:sp>
      <p:sp>
        <p:nvSpPr>
          <p:cNvPr id="27" name="Text 24"/>
          <p:cNvSpPr txBox="1"/>
          <p:nvPr/>
        </p:nvSpPr>
        <p:spPr>
          <a:xfrm>
            <a:off x="2487168" y="1234440"/>
            <a:ext cx="228600" cy="0"/>
          </a:xfrm>
          <a:prstGeom prst="rect">
            <a:avLst/>
          </a:prstGeom>
          <a:noFill/>
          <a:ln/>
        </p:spPr>
        <p:txBody>
          <a:bodyPr wrap="square" lIns="0" tIns="0" rIns="0" bIns="0" rtlCol="0" anchor="t"/>
          <a:lstStyle/>
          <a:p>
            <a:pPr indent="0" marL="0">
              <a:buNone/>
            </a:pPr>
            <a:r>
              <a:rPr lang="en-US" sz="1200" dirty="0">
                <a:solidFill>
                  <a:srgbClr val="FFFFFF"/>
                </a:solidFill>
              </a:rPr>
              <a:t>1</a:t>
            </a:r>
            <a:endParaRPr lang="en-US" sz="1200" dirty="0"/>
          </a:p>
        </p:txBody>
      </p:sp>
      <p:sp>
        <p:nvSpPr>
          <p:cNvPr id="28" name="Text 25"/>
          <p:cNvSpPr txBox="1"/>
          <p:nvPr/>
        </p:nvSpPr>
        <p:spPr>
          <a:xfrm>
            <a:off x="3291840" y="1234440"/>
            <a:ext cx="228600" cy="0"/>
          </a:xfrm>
          <a:prstGeom prst="rect">
            <a:avLst/>
          </a:prstGeom>
          <a:noFill/>
          <a:ln/>
        </p:spPr>
        <p:txBody>
          <a:bodyPr wrap="square" lIns="0" tIns="0" rIns="0" bIns="0" rtlCol="0" anchor="t"/>
          <a:lstStyle/>
          <a:p>
            <a:pPr indent="0" marL="0">
              <a:buNone/>
            </a:pPr>
            <a:r>
              <a:rPr lang="en-US" sz="1200" dirty="0">
                <a:solidFill>
                  <a:srgbClr val="FFFFFF"/>
                </a:solidFill>
              </a:rPr>
              <a:t>N</a:t>
            </a:r>
            <a:endParaRPr lang="en-US" sz="1200" dirty="0"/>
          </a:p>
        </p:txBody>
      </p:sp>
      <p:sp>
        <p:nvSpPr>
          <p:cNvPr id="29" name="Text 26"/>
          <p:cNvSpPr txBox="1"/>
          <p:nvPr/>
        </p:nvSpPr>
        <p:spPr>
          <a:xfrm>
            <a:off x="2487168" y="2487168"/>
            <a:ext cx="228600" cy="0"/>
          </a:xfrm>
          <a:prstGeom prst="rect">
            <a:avLst/>
          </a:prstGeom>
          <a:noFill/>
          <a:ln/>
        </p:spPr>
        <p:txBody>
          <a:bodyPr wrap="square" lIns="0" tIns="0" rIns="0" bIns="0" rtlCol="0" anchor="t"/>
          <a:lstStyle/>
          <a:p>
            <a:pPr indent="0" marL="0">
              <a:buNone/>
            </a:pPr>
            <a:r>
              <a:rPr lang="en-US" sz="1200" dirty="0">
                <a:solidFill>
                  <a:srgbClr val="FFFFFF"/>
                </a:solidFill>
              </a:rPr>
              <a:t>1</a:t>
            </a:r>
            <a:endParaRPr lang="en-US" sz="1200" dirty="0"/>
          </a:p>
        </p:txBody>
      </p:sp>
      <p:sp>
        <p:nvSpPr>
          <p:cNvPr id="30" name="Text 27"/>
          <p:cNvSpPr txBox="1"/>
          <p:nvPr/>
        </p:nvSpPr>
        <p:spPr>
          <a:xfrm>
            <a:off x="3291840" y="2395728"/>
            <a:ext cx="228600" cy="0"/>
          </a:xfrm>
          <a:prstGeom prst="rect">
            <a:avLst/>
          </a:prstGeom>
          <a:noFill/>
          <a:ln/>
        </p:spPr>
        <p:txBody>
          <a:bodyPr wrap="square" lIns="0" tIns="0" rIns="0" bIns="0" rtlCol="0" anchor="t"/>
          <a:lstStyle/>
          <a:p>
            <a:pPr indent="0" marL="0">
              <a:buNone/>
            </a:pPr>
            <a:r>
              <a:rPr lang="en-US" sz="1200" dirty="0">
                <a:solidFill>
                  <a:srgbClr val="FFFFFF"/>
                </a:solidFill>
              </a:rPr>
              <a:t>N</a:t>
            </a:r>
            <a:endParaRPr lang="en-US" sz="1200" dirty="0"/>
          </a:p>
        </p:txBody>
      </p:sp>
      <p:sp>
        <p:nvSpPr>
          <p:cNvPr id="31" name="Text 28"/>
          <p:cNvSpPr txBox="1"/>
          <p:nvPr/>
        </p:nvSpPr>
        <p:spPr>
          <a:xfrm>
            <a:off x="5733288" y="1417320"/>
            <a:ext cx="228600" cy="0"/>
          </a:xfrm>
          <a:prstGeom prst="rect">
            <a:avLst/>
          </a:prstGeom>
          <a:noFill/>
          <a:ln/>
        </p:spPr>
        <p:txBody>
          <a:bodyPr wrap="square" lIns="0" tIns="0" rIns="0" bIns="0" rtlCol="0" anchor="t"/>
          <a:lstStyle/>
          <a:p>
            <a:pPr indent="0" marL="0">
              <a:buNone/>
            </a:pPr>
            <a:r>
              <a:rPr lang="en-US" sz="1200" dirty="0">
                <a:solidFill>
                  <a:srgbClr val="FFFFFF"/>
                </a:solidFill>
              </a:rPr>
              <a:t>1</a:t>
            </a:r>
            <a:endParaRPr lang="en-US" sz="1200" dirty="0"/>
          </a:p>
        </p:txBody>
      </p:sp>
      <p:sp>
        <p:nvSpPr>
          <p:cNvPr id="32" name="Text 29"/>
          <p:cNvSpPr txBox="1"/>
          <p:nvPr/>
        </p:nvSpPr>
        <p:spPr>
          <a:xfrm>
            <a:off x="6355080" y="1417320"/>
            <a:ext cx="228600" cy="0"/>
          </a:xfrm>
          <a:prstGeom prst="rect">
            <a:avLst/>
          </a:prstGeom>
          <a:noFill/>
          <a:ln/>
        </p:spPr>
        <p:txBody>
          <a:bodyPr wrap="square" lIns="0" tIns="0" rIns="0" bIns="0" rtlCol="0" anchor="t"/>
          <a:lstStyle/>
          <a:p>
            <a:pPr indent="0" marL="0">
              <a:buNone/>
            </a:pPr>
            <a:r>
              <a:rPr lang="en-US" sz="1200" dirty="0">
                <a:solidFill>
                  <a:srgbClr val="FFFFFF"/>
                </a:solidFill>
              </a:rPr>
              <a:t>N</a:t>
            </a:r>
            <a:endParaRPr lang="en-US" sz="1200" dirty="0"/>
          </a:p>
        </p:txBody>
      </p:sp>
      <p:sp>
        <p:nvSpPr>
          <p:cNvPr id="33" name="Text 30"/>
          <p:cNvSpPr txBox="1"/>
          <p:nvPr/>
        </p:nvSpPr>
        <p:spPr>
          <a:xfrm>
            <a:off x="2651760" y="1261872"/>
            <a:ext cx="822960" cy="182880"/>
          </a:xfrm>
          <a:prstGeom prst="rect">
            <a:avLst/>
          </a:prstGeom>
          <a:noFill/>
          <a:ln/>
        </p:spPr>
        <p:txBody>
          <a:bodyPr wrap="square" lIns="0" tIns="0" rIns="0" bIns="0" rtlCol="0" anchor="t"/>
          <a:lstStyle/>
          <a:p>
            <a:pPr algn="ctr" indent="0" marL="0">
              <a:buNone/>
            </a:pPr>
            <a:r>
              <a:rPr lang="en-US" sz="800" dirty="0">
                <a:solidFill>
                  <a:srgbClr val="A9B4D6"/>
                </a:solidFill>
              </a:rPr>
              <a:t>contains</a:t>
            </a:r>
            <a:endParaRPr lang="en-US" sz="800" dirty="0"/>
          </a:p>
        </p:txBody>
      </p:sp>
      <p:sp>
        <p:nvSpPr>
          <p:cNvPr id="34" name="Text 31"/>
          <p:cNvSpPr txBox="1"/>
          <p:nvPr/>
        </p:nvSpPr>
        <p:spPr>
          <a:xfrm>
            <a:off x="2651760" y="2331720"/>
            <a:ext cx="822960" cy="182880"/>
          </a:xfrm>
          <a:prstGeom prst="rect">
            <a:avLst/>
          </a:prstGeom>
          <a:noFill/>
          <a:ln/>
        </p:spPr>
        <p:txBody>
          <a:bodyPr wrap="square" lIns="0" tIns="0" rIns="0" bIns="0" rtlCol="0" anchor="t"/>
          <a:lstStyle/>
          <a:p>
            <a:pPr algn="ctr" indent="0" marL="0">
              <a:buNone/>
            </a:pPr>
            <a:r>
              <a:rPr lang="en-US" sz="800" dirty="0">
                <a:solidFill>
                  <a:srgbClr val="A9B4D6"/>
                </a:solidFill>
              </a:rPr>
              <a:t>supplies</a:t>
            </a:r>
            <a:endParaRPr lang="en-US" sz="800" dirty="0"/>
          </a:p>
        </p:txBody>
      </p:sp>
      <p:sp>
        <p:nvSpPr>
          <p:cNvPr id="35" name="Text 32"/>
          <p:cNvSpPr txBox="1"/>
          <p:nvPr/>
        </p:nvSpPr>
        <p:spPr>
          <a:xfrm>
            <a:off x="5760720" y="1444752"/>
            <a:ext cx="822960" cy="182880"/>
          </a:xfrm>
          <a:prstGeom prst="rect">
            <a:avLst/>
          </a:prstGeom>
          <a:noFill/>
          <a:ln/>
        </p:spPr>
        <p:txBody>
          <a:bodyPr wrap="square" lIns="0" tIns="0" rIns="0" bIns="0" rtlCol="0" anchor="t"/>
          <a:lstStyle/>
          <a:p>
            <a:pPr algn="ctr" indent="0" marL="0">
              <a:buNone/>
            </a:pPr>
            <a:r>
              <a:rPr lang="en-US" sz="800" dirty="0">
                <a:solidFill>
                  <a:srgbClr val="A9B4D6"/>
                </a:solidFill>
              </a:rPr>
              <a:t>has</a:t>
            </a:r>
            <a:endParaRPr lang="en-US" sz="800" dirty="0"/>
          </a:p>
        </p:txBody>
      </p:sp>
      <p:sp>
        <p:nvSpPr>
          <p:cNvPr id="36" name="Text 33"/>
          <p:cNvSpPr txBox="1"/>
          <p:nvPr/>
        </p:nvSpPr>
        <p:spPr>
          <a:xfrm>
            <a:off x="457200" y="4343400"/>
            <a:ext cx="8229600" cy="274320"/>
          </a:xfrm>
          <a:prstGeom prst="rect">
            <a:avLst/>
          </a:prstGeom>
          <a:noFill/>
          <a:ln/>
        </p:spPr>
        <p:txBody>
          <a:bodyPr wrap="square" lIns="0" tIns="0" rIns="0" bIns="0" rtlCol="0" anchor="t"/>
          <a:lstStyle/>
          <a:p>
            <a:pPr algn="ctr" indent="0" marL="0">
              <a:buNone/>
            </a:pPr>
            <a:r>
              <a:rPr lang="en-US" sz="950" dirty="0">
                <a:solidFill>
                  <a:srgbClr val="A9B4D6"/>
                </a:solidFill>
              </a:rPr>
              <a:t>CATEGORIES 1:N PRODUCTS     SUPPLIERS 1:N PRODUCTS (supplier_id nullable: 0 or 1 supplier)     PRODUCTS 1:N STOCK_TRANSACTIONS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Relational Schema and Normalization</a:t>
            </a:r>
            <a:endParaRPr lang="en-US" sz="2200" dirty="0"/>
          </a:p>
        </p:txBody>
      </p:sp>
      <p:sp>
        <p:nvSpPr>
          <p:cNvPr id="4" name="Text 2"/>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6 / 12</a:t>
            </a:r>
            <a:endParaRPr lang="en-US" sz="900" dirty="0"/>
          </a:p>
        </p:txBody>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7" name="Shape 4"/>
          <p:cNvSpPr/>
          <p:nvPr/>
        </p:nvSpPr>
        <p:spPr>
          <a:xfrm>
            <a:off x="457200" y="1051560"/>
            <a:ext cx="8229600" cy="493776"/>
          </a:xfrm>
          <a:prstGeom prst="roundRect">
            <a:avLst>
              <a:gd name="adj" fmla="val 14815"/>
            </a:avLst>
          </a:prstGeom>
          <a:solidFill>
            <a:srgbClr val="15204A"/>
          </a:solidFill>
          <a:ln w="12700">
            <a:solidFill>
              <a:srgbClr val="2A3768"/>
            </a:solidFill>
            <a:prstDash val="solid"/>
          </a:ln>
        </p:spPr>
      </p:sp>
      <p:sp>
        <p:nvSpPr>
          <p:cNvPr id="8" name="Text 5"/>
          <p:cNvSpPr txBox="1"/>
          <p:nvPr/>
        </p:nvSpPr>
        <p:spPr>
          <a:xfrm>
            <a:off x="594360" y="1051560"/>
            <a:ext cx="1737360" cy="493776"/>
          </a:xfrm>
          <a:prstGeom prst="rect">
            <a:avLst/>
          </a:prstGeom>
          <a:noFill/>
          <a:ln/>
        </p:spPr>
        <p:txBody>
          <a:bodyPr wrap="square" lIns="0" tIns="0" rIns="0" bIns="0" rtlCol="0" anchor="ctr"/>
          <a:lstStyle/>
          <a:p>
            <a:pPr indent="0" marL="0">
              <a:buNone/>
            </a:pPr>
            <a:r>
              <a:rPr lang="en-US" sz="1050" b="1" dirty="0">
                <a:solidFill>
                  <a:srgbClr val="2DD4BF"/>
                </a:solidFill>
              </a:rPr>
              <a:t>CATEGORIES</a:t>
            </a:r>
            <a:endParaRPr lang="en-US" sz="1050" dirty="0"/>
          </a:p>
        </p:txBody>
      </p:sp>
      <p:sp>
        <p:nvSpPr>
          <p:cNvPr id="9" name="Text 6"/>
          <p:cNvSpPr txBox="1"/>
          <p:nvPr/>
        </p:nvSpPr>
        <p:spPr>
          <a:xfrm>
            <a:off x="2331720" y="1051560"/>
            <a:ext cx="6217920" cy="493776"/>
          </a:xfrm>
          <a:prstGeom prst="rect">
            <a:avLst/>
          </a:prstGeom>
          <a:noFill/>
          <a:ln/>
        </p:spPr>
        <p:txBody>
          <a:bodyPr wrap="square" lIns="0" tIns="0" rIns="0" bIns="0" rtlCol="0" anchor="ctr"/>
          <a:lstStyle/>
          <a:p>
            <a:pPr indent="0" marL="0">
              <a:buNone/>
            </a:pPr>
            <a:r>
              <a:rPr lang="en-US" sz="1050" dirty="0">
                <a:solidFill>
                  <a:srgbClr val="FFFFFF"/>
                </a:solidFill>
                <a:latin typeface="Consolas" pitchFamily="34" charset="0"/>
                <a:ea typeface="Consolas" pitchFamily="34" charset="-122"/>
                <a:cs typeface="Consolas" pitchFamily="34" charset="-120"/>
              </a:rPr>
              <a:t>category_id PK, category_name UNIQUE, description</a:t>
            </a:r>
            <a:endParaRPr lang="en-US" sz="1050" dirty="0"/>
          </a:p>
        </p:txBody>
      </p:sp>
      <p:sp>
        <p:nvSpPr>
          <p:cNvPr id="10" name="Shape 7"/>
          <p:cNvSpPr/>
          <p:nvPr/>
        </p:nvSpPr>
        <p:spPr>
          <a:xfrm>
            <a:off x="457200" y="1618488"/>
            <a:ext cx="8229600" cy="493776"/>
          </a:xfrm>
          <a:prstGeom prst="roundRect">
            <a:avLst>
              <a:gd name="adj" fmla="val 14815"/>
            </a:avLst>
          </a:prstGeom>
          <a:solidFill>
            <a:srgbClr val="15204A"/>
          </a:solidFill>
          <a:ln w="12700">
            <a:solidFill>
              <a:srgbClr val="2A3768"/>
            </a:solidFill>
            <a:prstDash val="solid"/>
          </a:ln>
        </p:spPr>
      </p:sp>
      <p:sp>
        <p:nvSpPr>
          <p:cNvPr id="11" name="Text 8"/>
          <p:cNvSpPr txBox="1"/>
          <p:nvPr/>
        </p:nvSpPr>
        <p:spPr>
          <a:xfrm>
            <a:off x="594360" y="1618488"/>
            <a:ext cx="1737360" cy="493776"/>
          </a:xfrm>
          <a:prstGeom prst="rect">
            <a:avLst/>
          </a:prstGeom>
          <a:noFill/>
          <a:ln/>
        </p:spPr>
        <p:txBody>
          <a:bodyPr wrap="square" lIns="0" tIns="0" rIns="0" bIns="0" rtlCol="0" anchor="ctr"/>
          <a:lstStyle/>
          <a:p>
            <a:pPr indent="0" marL="0">
              <a:buNone/>
            </a:pPr>
            <a:r>
              <a:rPr lang="en-US" sz="1050" b="1" dirty="0">
                <a:solidFill>
                  <a:srgbClr val="2DD4BF"/>
                </a:solidFill>
              </a:rPr>
              <a:t>SUPPLIERS</a:t>
            </a:r>
            <a:endParaRPr lang="en-US" sz="1050" dirty="0"/>
          </a:p>
        </p:txBody>
      </p:sp>
      <p:sp>
        <p:nvSpPr>
          <p:cNvPr id="12" name="Text 9"/>
          <p:cNvSpPr txBox="1"/>
          <p:nvPr/>
        </p:nvSpPr>
        <p:spPr>
          <a:xfrm>
            <a:off x="2331720" y="1618488"/>
            <a:ext cx="6217920" cy="493776"/>
          </a:xfrm>
          <a:prstGeom prst="rect">
            <a:avLst/>
          </a:prstGeom>
          <a:noFill/>
          <a:ln/>
        </p:spPr>
        <p:txBody>
          <a:bodyPr wrap="square" lIns="0" tIns="0" rIns="0" bIns="0" rtlCol="0" anchor="ctr"/>
          <a:lstStyle/>
          <a:p>
            <a:pPr indent="0" marL="0">
              <a:buNone/>
            </a:pPr>
            <a:r>
              <a:rPr lang="en-US" sz="1050" dirty="0">
                <a:solidFill>
                  <a:srgbClr val="FFFFFF"/>
                </a:solidFill>
                <a:latin typeface="Consolas" pitchFamily="34" charset="0"/>
                <a:ea typeface="Consolas" pitchFamily="34" charset="-122"/>
                <a:cs typeface="Consolas" pitchFamily="34" charset="-120"/>
              </a:rPr>
              <a:t>supplier_id PK, supplier_name, contact_person, phone, email, address</a:t>
            </a:r>
            <a:endParaRPr lang="en-US" sz="1050" dirty="0"/>
          </a:p>
        </p:txBody>
      </p:sp>
      <p:sp>
        <p:nvSpPr>
          <p:cNvPr id="13" name="Shape 10"/>
          <p:cNvSpPr/>
          <p:nvPr/>
        </p:nvSpPr>
        <p:spPr>
          <a:xfrm>
            <a:off x="457200" y="2185416"/>
            <a:ext cx="8229600" cy="493776"/>
          </a:xfrm>
          <a:prstGeom prst="roundRect">
            <a:avLst>
              <a:gd name="adj" fmla="val 14815"/>
            </a:avLst>
          </a:prstGeom>
          <a:solidFill>
            <a:srgbClr val="15204A"/>
          </a:solidFill>
          <a:ln w="12700">
            <a:solidFill>
              <a:srgbClr val="2A3768"/>
            </a:solidFill>
            <a:prstDash val="solid"/>
          </a:ln>
        </p:spPr>
      </p:sp>
      <p:sp>
        <p:nvSpPr>
          <p:cNvPr id="14" name="Text 11"/>
          <p:cNvSpPr txBox="1"/>
          <p:nvPr/>
        </p:nvSpPr>
        <p:spPr>
          <a:xfrm>
            <a:off x="594360" y="2185416"/>
            <a:ext cx="1737360" cy="493776"/>
          </a:xfrm>
          <a:prstGeom prst="rect">
            <a:avLst/>
          </a:prstGeom>
          <a:noFill/>
          <a:ln/>
        </p:spPr>
        <p:txBody>
          <a:bodyPr wrap="square" lIns="0" tIns="0" rIns="0" bIns="0" rtlCol="0" anchor="ctr"/>
          <a:lstStyle/>
          <a:p>
            <a:pPr indent="0" marL="0">
              <a:buNone/>
            </a:pPr>
            <a:r>
              <a:rPr lang="en-US" sz="1050" b="1" dirty="0">
                <a:solidFill>
                  <a:srgbClr val="2DD4BF"/>
                </a:solidFill>
              </a:rPr>
              <a:t>PRODUCTS</a:t>
            </a:r>
            <a:endParaRPr lang="en-US" sz="1050" dirty="0"/>
          </a:p>
        </p:txBody>
      </p:sp>
      <p:sp>
        <p:nvSpPr>
          <p:cNvPr id="15" name="Text 12"/>
          <p:cNvSpPr txBox="1"/>
          <p:nvPr/>
        </p:nvSpPr>
        <p:spPr>
          <a:xfrm>
            <a:off x="2331720" y="2185416"/>
            <a:ext cx="6217920" cy="493776"/>
          </a:xfrm>
          <a:prstGeom prst="rect">
            <a:avLst/>
          </a:prstGeom>
          <a:noFill/>
          <a:ln/>
        </p:spPr>
        <p:txBody>
          <a:bodyPr wrap="square" lIns="0" tIns="0" rIns="0" bIns="0" rtlCol="0" anchor="ctr"/>
          <a:lstStyle/>
          <a:p>
            <a:pPr indent="0" marL="0">
              <a:buNone/>
            </a:pPr>
            <a:r>
              <a:rPr lang="en-US" sz="1050" dirty="0">
                <a:solidFill>
                  <a:srgbClr val="FFFFFF"/>
                </a:solidFill>
                <a:latin typeface="Consolas" pitchFamily="34" charset="0"/>
                <a:ea typeface="Consolas" pitchFamily="34" charset="-122"/>
                <a:cs typeface="Consolas" pitchFamily="34" charset="-120"/>
              </a:rPr>
              <a:t>product_id PK, product_name, category_id FK, supplier_id FK, unit_price, current_stock, reorder_level, created_at</a:t>
            </a:r>
            <a:endParaRPr lang="en-US" sz="1050" dirty="0"/>
          </a:p>
        </p:txBody>
      </p:sp>
      <p:sp>
        <p:nvSpPr>
          <p:cNvPr id="16" name="Shape 13"/>
          <p:cNvSpPr/>
          <p:nvPr/>
        </p:nvSpPr>
        <p:spPr>
          <a:xfrm>
            <a:off x="457200" y="2752344"/>
            <a:ext cx="8229600" cy="493776"/>
          </a:xfrm>
          <a:prstGeom prst="roundRect">
            <a:avLst>
              <a:gd name="adj" fmla="val 14815"/>
            </a:avLst>
          </a:prstGeom>
          <a:solidFill>
            <a:srgbClr val="15204A"/>
          </a:solidFill>
          <a:ln w="12700">
            <a:solidFill>
              <a:srgbClr val="2A3768"/>
            </a:solidFill>
            <a:prstDash val="solid"/>
          </a:ln>
        </p:spPr>
      </p:sp>
      <p:sp>
        <p:nvSpPr>
          <p:cNvPr id="17" name="Text 14"/>
          <p:cNvSpPr txBox="1"/>
          <p:nvPr/>
        </p:nvSpPr>
        <p:spPr>
          <a:xfrm>
            <a:off x="594360" y="2752344"/>
            <a:ext cx="1737360" cy="493776"/>
          </a:xfrm>
          <a:prstGeom prst="rect">
            <a:avLst/>
          </a:prstGeom>
          <a:noFill/>
          <a:ln/>
        </p:spPr>
        <p:txBody>
          <a:bodyPr wrap="square" lIns="0" tIns="0" rIns="0" bIns="0" rtlCol="0" anchor="ctr"/>
          <a:lstStyle/>
          <a:p>
            <a:pPr indent="0" marL="0">
              <a:buNone/>
            </a:pPr>
            <a:r>
              <a:rPr lang="en-US" sz="1050" b="1" dirty="0">
                <a:solidFill>
                  <a:srgbClr val="2DD4BF"/>
                </a:solidFill>
              </a:rPr>
              <a:t>STOCK_TRANSACTIONS</a:t>
            </a:r>
            <a:endParaRPr lang="en-US" sz="1050" dirty="0"/>
          </a:p>
        </p:txBody>
      </p:sp>
      <p:sp>
        <p:nvSpPr>
          <p:cNvPr id="18" name="Text 15"/>
          <p:cNvSpPr txBox="1"/>
          <p:nvPr/>
        </p:nvSpPr>
        <p:spPr>
          <a:xfrm>
            <a:off x="2331720" y="2752344"/>
            <a:ext cx="6217920" cy="493776"/>
          </a:xfrm>
          <a:prstGeom prst="rect">
            <a:avLst/>
          </a:prstGeom>
          <a:noFill/>
          <a:ln/>
        </p:spPr>
        <p:txBody>
          <a:bodyPr wrap="square" lIns="0" tIns="0" rIns="0" bIns="0" rtlCol="0" anchor="ctr"/>
          <a:lstStyle/>
          <a:p>
            <a:pPr indent="0" marL="0">
              <a:buNone/>
            </a:pPr>
            <a:r>
              <a:rPr lang="en-US" sz="1050" dirty="0">
                <a:solidFill>
                  <a:srgbClr val="FFFFFF"/>
                </a:solidFill>
                <a:latin typeface="Consolas" pitchFamily="34" charset="0"/>
                <a:ea typeface="Consolas" pitchFamily="34" charset="-122"/>
                <a:cs typeface="Consolas" pitchFamily="34" charset="-120"/>
              </a:rPr>
              <a:t>transaction_id PK, product_id FK, transaction_type, quantity, transaction_date, remarks</a:t>
            </a:r>
            <a:endParaRPr lang="en-US" sz="1050" dirty="0"/>
          </a:p>
        </p:txBody>
      </p:sp>
      <p:sp>
        <p:nvSpPr>
          <p:cNvPr id="19" name="Shape 16"/>
          <p:cNvSpPr/>
          <p:nvPr/>
        </p:nvSpPr>
        <p:spPr>
          <a:xfrm>
            <a:off x="457200" y="3429000"/>
            <a:ext cx="2651760" cy="1188720"/>
          </a:xfrm>
          <a:prstGeom prst="roundRect">
            <a:avLst>
              <a:gd name="adj" fmla="val 6154"/>
            </a:avLst>
          </a:prstGeom>
          <a:solidFill>
            <a:srgbClr val="15204A"/>
          </a:solidFill>
          <a:ln w="12700">
            <a:solidFill>
              <a:srgbClr val="A78BFA"/>
            </a:solidFill>
            <a:prstDash val="solid"/>
          </a:ln>
        </p:spPr>
      </p:sp>
      <p:sp>
        <p:nvSpPr>
          <p:cNvPr id="20" name="Text 17"/>
          <p:cNvSpPr txBox="1"/>
          <p:nvPr/>
        </p:nvSpPr>
        <p:spPr>
          <a:xfrm>
            <a:off x="594360" y="3502152"/>
            <a:ext cx="2377440" cy="274320"/>
          </a:xfrm>
          <a:prstGeom prst="rect">
            <a:avLst/>
          </a:prstGeom>
          <a:noFill/>
          <a:ln/>
        </p:spPr>
        <p:txBody>
          <a:bodyPr wrap="square" lIns="0" tIns="0" rIns="0" bIns="0" rtlCol="0" anchor="t"/>
          <a:lstStyle/>
          <a:p>
            <a:pPr indent="0" marL="0">
              <a:buNone/>
            </a:pPr>
            <a:r>
              <a:rPr lang="en-US" sz="1500" b="1" dirty="0">
                <a:solidFill>
                  <a:srgbClr val="A78BFA"/>
                </a:solidFill>
              </a:rPr>
              <a:t>1NF</a:t>
            </a:r>
            <a:endParaRPr lang="en-US" sz="1500" dirty="0"/>
          </a:p>
        </p:txBody>
      </p:sp>
      <p:sp>
        <p:nvSpPr>
          <p:cNvPr id="21" name="Text 18"/>
          <p:cNvSpPr txBox="1"/>
          <p:nvPr/>
        </p:nvSpPr>
        <p:spPr>
          <a:xfrm>
            <a:off x="594360" y="3840480"/>
            <a:ext cx="2377440" cy="731520"/>
          </a:xfrm>
          <a:prstGeom prst="rect">
            <a:avLst/>
          </a:prstGeom>
          <a:noFill/>
          <a:ln/>
        </p:spPr>
        <p:txBody>
          <a:bodyPr wrap="square" lIns="0" tIns="0" rIns="0" bIns="0" rtlCol="0" anchor="t"/>
          <a:lstStyle/>
          <a:p>
            <a:pPr indent="0" marL="0">
              <a:buNone/>
            </a:pPr>
            <a:r>
              <a:rPr lang="en-US" sz="1100" dirty="0">
                <a:solidFill>
                  <a:srgbClr val="FFFFFF"/>
                </a:solidFill>
              </a:rPr>
              <a:t>Single-valued fields; no repeating groups</a:t>
            </a:r>
            <a:endParaRPr lang="en-US" sz="1100" dirty="0"/>
          </a:p>
        </p:txBody>
      </p:sp>
      <p:sp>
        <p:nvSpPr>
          <p:cNvPr id="22" name="Shape 19"/>
          <p:cNvSpPr/>
          <p:nvPr/>
        </p:nvSpPr>
        <p:spPr>
          <a:xfrm>
            <a:off x="3246120" y="3429000"/>
            <a:ext cx="2651760" cy="1188720"/>
          </a:xfrm>
          <a:prstGeom prst="roundRect">
            <a:avLst>
              <a:gd name="adj" fmla="val 6154"/>
            </a:avLst>
          </a:prstGeom>
          <a:solidFill>
            <a:srgbClr val="15204A"/>
          </a:solidFill>
          <a:ln w="12700">
            <a:solidFill>
              <a:srgbClr val="A78BFA"/>
            </a:solidFill>
            <a:prstDash val="solid"/>
          </a:ln>
        </p:spPr>
      </p:sp>
      <p:sp>
        <p:nvSpPr>
          <p:cNvPr id="23" name="Text 20"/>
          <p:cNvSpPr txBox="1"/>
          <p:nvPr/>
        </p:nvSpPr>
        <p:spPr>
          <a:xfrm>
            <a:off x="3383280" y="3502152"/>
            <a:ext cx="2377440" cy="274320"/>
          </a:xfrm>
          <a:prstGeom prst="rect">
            <a:avLst/>
          </a:prstGeom>
          <a:noFill/>
          <a:ln/>
        </p:spPr>
        <p:txBody>
          <a:bodyPr wrap="square" lIns="0" tIns="0" rIns="0" bIns="0" rtlCol="0" anchor="t"/>
          <a:lstStyle/>
          <a:p>
            <a:pPr indent="0" marL="0">
              <a:buNone/>
            </a:pPr>
            <a:r>
              <a:rPr lang="en-US" sz="1500" b="1" dirty="0">
                <a:solidFill>
                  <a:srgbClr val="A78BFA"/>
                </a:solidFill>
              </a:rPr>
              <a:t>2NF</a:t>
            </a:r>
            <a:endParaRPr lang="en-US" sz="1500" dirty="0"/>
          </a:p>
        </p:txBody>
      </p:sp>
      <p:sp>
        <p:nvSpPr>
          <p:cNvPr id="24" name="Text 21"/>
          <p:cNvSpPr txBox="1"/>
          <p:nvPr/>
        </p:nvSpPr>
        <p:spPr>
          <a:xfrm>
            <a:off x="3383280" y="3840480"/>
            <a:ext cx="2377440" cy="731520"/>
          </a:xfrm>
          <a:prstGeom prst="rect">
            <a:avLst/>
          </a:prstGeom>
          <a:noFill/>
          <a:ln/>
        </p:spPr>
        <p:txBody>
          <a:bodyPr wrap="square" lIns="0" tIns="0" rIns="0" bIns="0" rtlCol="0" anchor="t"/>
          <a:lstStyle/>
          <a:p>
            <a:pPr indent="0" marL="0">
              <a:buNone/>
            </a:pPr>
            <a:r>
              <a:rPr lang="en-US" sz="1100" dirty="0">
                <a:solidFill>
                  <a:srgbClr val="FFFFFF"/>
                </a:solidFill>
              </a:rPr>
              <a:t>Single-column PKs, so no partial-key dependencies</a:t>
            </a:r>
            <a:endParaRPr lang="en-US" sz="1100" dirty="0"/>
          </a:p>
        </p:txBody>
      </p:sp>
      <p:sp>
        <p:nvSpPr>
          <p:cNvPr id="25" name="Shape 22"/>
          <p:cNvSpPr/>
          <p:nvPr/>
        </p:nvSpPr>
        <p:spPr>
          <a:xfrm>
            <a:off x="6035040" y="3429000"/>
            <a:ext cx="2651760" cy="1188720"/>
          </a:xfrm>
          <a:prstGeom prst="roundRect">
            <a:avLst>
              <a:gd name="adj" fmla="val 6154"/>
            </a:avLst>
          </a:prstGeom>
          <a:solidFill>
            <a:srgbClr val="15204A"/>
          </a:solidFill>
          <a:ln w="12700">
            <a:solidFill>
              <a:srgbClr val="A78BFA"/>
            </a:solidFill>
            <a:prstDash val="solid"/>
          </a:ln>
        </p:spPr>
      </p:sp>
      <p:sp>
        <p:nvSpPr>
          <p:cNvPr id="26" name="Text 23"/>
          <p:cNvSpPr txBox="1"/>
          <p:nvPr/>
        </p:nvSpPr>
        <p:spPr>
          <a:xfrm>
            <a:off x="6172200" y="3502152"/>
            <a:ext cx="2377440" cy="274320"/>
          </a:xfrm>
          <a:prstGeom prst="rect">
            <a:avLst/>
          </a:prstGeom>
          <a:noFill/>
          <a:ln/>
        </p:spPr>
        <p:txBody>
          <a:bodyPr wrap="square" lIns="0" tIns="0" rIns="0" bIns="0" rtlCol="0" anchor="t"/>
          <a:lstStyle/>
          <a:p>
            <a:pPr indent="0" marL="0">
              <a:buNone/>
            </a:pPr>
            <a:r>
              <a:rPr lang="en-US" sz="1500" b="1" dirty="0">
                <a:solidFill>
                  <a:srgbClr val="A78BFA"/>
                </a:solidFill>
              </a:rPr>
              <a:t>3NF</a:t>
            </a:r>
            <a:endParaRPr lang="en-US" sz="1500" dirty="0"/>
          </a:p>
        </p:txBody>
      </p:sp>
      <p:sp>
        <p:nvSpPr>
          <p:cNvPr id="27" name="Text 24"/>
          <p:cNvSpPr txBox="1"/>
          <p:nvPr/>
        </p:nvSpPr>
        <p:spPr>
          <a:xfrm>
            <a:off x="6172200" y="3840480"/>
            <a:ext cx="2377440" cy="731520"/>
          </a:xfrm>
          <a:prstGeom prst="rect">
            <a:avLst/>
          </a:prstGeom>
          <a:noFill/>
          <a:ln/>
        </p:spPr>
        <p:txBody>
          <a:bodyPr wrap="square" lIns="0" tIns="0" rIns="0" bIns="0" rtlCol="0" anchor="t"/>
          <a:lstStyle/>
          <a:p>
            <a:pPr indent="0" marL="0">
              <a:buNone/>
            </a:pPr>
            <a:r>
              <a:rPr lang="en-US" sz="1100" dirty="0">
                <a:solidFill>
                  <a:srgbClr val="FFFFFF"/>
                </a:solidFill>
              </a:rPr>
              <a:t>Category and supplier details stored in their own tables; no transitive dependencies in products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SQL Implementation: DDL and Constraints</a:t>
            </a:r>
            <a:endParaRPr lang="en-US" sz="2200" dirty="0"/>
          </a:p>
        </p:txBody>
      </p:sp>
      <p:sp>
        <p:nvSpPr>
          <p:cNvPr id="4" name="Text 2"/>
          <p:cNvSpPr txBox="1"/>
          <p:nvPr/>
        </p:nvSpPr>
        <p:spPr>
          <a:xfrm>
            <a:off x="640080" y="658368"/>
            <a:ext cx="8046720" cy="228600"/>
          </a:xfrm>
          <a:prstGeom prst="rect">
            <a:avLst/>
          </a:prstGeom>
          <a:noFill/>
          <a:ln/>
        </p:spPr>
        <p:txBody>
          <a:bodyPr wrap="square" lIns="0" tIns="0" rIns="0" bIns="0" rtlCol="0" anchor="ctr"/>
          <a:lstStyle/>
          <a:p>
            <a:pPr indent="0" marL="0">
              <a:buNone/>
            </a:pPr>
            <a:r>
              <a:rPr lang="en-US" sz="1100" dirty="0">
                <a:solidFill>
                  <a:srgbClr val="A9B4D6"/>
                </a:solidFill>
              </a:rPr>
              <a:t>MySQL 8.x  |  representative products table</a:t>
            </a:r>
            <a:endParaRPr lang="en-US" sz="1100" dirty="0"/>
          </a:p>
        </p:txBody>
      </p:sp>
      <p:sp>
        <p:nvSpPr>
          <p:cNvPr id="5" name="Text 3"/>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7 / 12</a:t>
            </a:r>
            <a:endParaRPr lang="en-US" sz="9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8" name="Shape 5"/>
          <p:cNvSpPr/>
          <p:nvPr/>
        </p:nvSpPr>
        <p:spPr>
          <a:xfrm>
            <a:off x="457200" y="1051560"/>
            <a:ext cx="5394960" cy="3520440"/>
          </a:xfrm>
          <a:prstGeom prst="roundRect">
            <a:avLst>
              <a:gd name="adj" fmla="val 1558"/>
            </a:avLst>
          </a:prstGeom>
          <a:solidFill>
            <a:srgbClr val="070D22"/>
          </a:solidFill>
          <a:ln w="12700">
            <a:solidFill>
              <a:srgbClr val="2A3768"/>
            </a:solidFill>
            <a:prstDash val="solid"/>
          </a:ln>
        </p:spPr>
      </p:sp>
      <p:sp>
        <p:nvSpPr>
          <p:cNvPr id="9" name="Text 6"/>
          <p:cNvSpPr txBox="1"/>
          <p:nvPr/>
        </p:nvSpPr>
        <p:spPr>
          <a:xfrm>
            <a:off x="566928" y="1124712"/>
            <a:ext cx="5175504" cy="3374136"/>
          </a:xfrm>
          <a:prstGeom prst="rect">
            <a:avLst/>
          </a:prstGeom>
          <a:noFill/>
          <a:ln/>
        </p:spPr>
        <p:txBody>
          <a:bodyPr wrap="square" lIns="0" tIns="0" rIns="0" bIns="0" rtlCol="0" anchor="t"/>
          <a:lstStyle/>
          <a:p>
            <a:pPr indent="0" marL="0">
              <a:buNone/>
            </a:pPr>
            <a:r>
              <a:rPr lang="en-US" sz="950" b="1" dirty="0">
                <a:solidFill>
                  <a:srgbClr val="A78BFA"/>
                </a:solidFill>
                <a:latin typeface="Consolas" pitchFamily="34" charset="0"/>
                <a:ea typeface="Consolas" pitchFamily="34" charset="-122"/>
                <a:cs typeface="Consolas" pitchFamily="34" charset="-120"/>
              </a:rPr>
              <a:t>CREATE TABLE </a:t>
            </a:r>
            <a:pPr indent="0" marL="0">
              <a:buNone/>
            </a:pPr>
            <a:r>
              <a:rPr lang="en-US" sz="950" dirty="0">
                <a:solidFill>
                  <a:srgbClr val="FFFFFF"/>
                </a:solidFill>
                <a:latin typeface="Consolas" pitchFamily="34" charset="0"/>
                <a:ea typeface="Consolas" pitchFamily="34" charset="-122"/>
                <a:cs typeface="Consolas" pitchFamily="34" charset="-120"/>
              </a:rPr>
              <a:t>products (</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product_id    </a:t>
            </a:r>
            <a:pPr indent="0" marL="0">
              <a:buNone/>
            </a:pPr>
            <a:r>
              <a:rPr lang="en-US" sz="950" dirty="0">
                <a:solidFill>
                  <a:srgbClr val="2DD4BF"/>
                </a:solidFill>
                <a:latin typeface="Consolas" pitchFamily="34" charset="0"/>
                <a:ea typeface="Consolas" pitchFamily="34" charset="-122"/>
                <a:cs typeface="Consolas" pitchFamily="34" charset="-120"/>
              </a:rPr>
              <a:t>INT AUTO_INCREMENT PRIMARY KEY</a:t>
            </a:r>
            <a:pPr indent="0" marL="0">
              <a:buNone/>
            </a:pPr>
            <a:r>
              <a:rPr lang="en-US" sz="950" dirty="0">
                <a:solidFill>
                  <a:srgbClr val="FFFFFF"/>
                </a:solidFill>
                <a:latin typeface="Consolas" pitchFamily="34" charset="0"/>
                <a:ea typeface="Consolas" pitchFamily="34" charset="-122"/>
                <a:cs typeface="Consolas" pitchFamily="34" charset="-120"/>
              </a:rPr>
              <a:t>,</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product_name  VARCHAR(100) </a:t>
            </a:r>
            <a:pPr indent="0" marL="0">
              <a:buNone/>
            </a:pPr>
            <a:r>
              <a:rPr lang="en-US" sz="950" dirty="0">
                <a:solidFill>
                  <a:srgbClr val="2DD4BF"/>
                </a:solidFill>
                <a:latin typeface="Consolas" pitchFamily="34" charset="0"/>
                <a:ea typeface="Consolas" pitchFamily="34" charset="-122"/>
                <a:cs typeface="Consolas" pitchFamily="34" charset="-120"/>
              </a:rPr>
              <a:t>NOT NULL</a:t>
            </a:r>
            <a:pPr indent="0" marL="0">
              <a:buNone/>
            </a:pPr>
            <a:r>
              <a:rPr lang="en-US" sz="950" dirty="0">
                <a:solidFill>
                  <a:srgbClr val="FFFFFF"/>
                </a:solidFill>
                <a:latin typeface="Consolas" pitchFamily="34" charset="0"/>
                <a:ea typeface="Consolas" pitchFamily="34" charset="-122"/>
                <a:cs typeface="Consolas" pitchFamily="34" charset="-120"/>
              </a:rPr>
              <a:t>,</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category_id   INT </a:t>
            </a:r>
            <a:pPr indent="0" marL="0">
              <a:buNone/>
            </a:pPr>
            <a:r>
              <a:rPr lang="en-US" sz="950" dirty="0">
                <a:solidFill>
                  <a:srgbClr val="2DD4BF"/>
                </a:solidFill>
                <a:latin typeface="Consolas" pitchFamily="34" charset="0"/>
                <a:ea typeface="Consolas" pitchFamily="34" charset="-122"/>
                <a:cs typeface="Consolas" pitchFamily="34" charset="-120"/>
              </a:rPr>
              <a:t>NOT NULL</a:t>
            </a:r>
            <a:pPr indent="0" marL="0">
              <a:buNone/>
            </a:pPr>
            <a:r>
              <a:rPr lang="en-US" sz="950" dirty="0">
                <a:solidFill>
                  <a:srgbClr val="FFFFFF"/>
                </a:solidFill>
                <a:latin typeface="Consolas" pitchFamily="34" charset="0"/>
                <a:ea typeface="Consolas" pitchFamily="34" charset="-122"/>
                <a:cs typeface="Consolas" pitchFamily="34" charset="-120"/>
              </a:rPr>
              <a:t>,</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supplier_id   INT </a:t>
            </a:r>
            <a:pPr indent="0" marL="0">
              <a:buNone/>
            </a:pPr>
            <a:r>
              <a:rPr lang="en-US" sz="950" dirty="0">
                <a:solidFill>
                  <a:srgbClr val="7C8DB8"/>
                </a:solidFill>
                <a:latin typeface="Consolas" pitchFamily="34" charset="0"/>
                <a:ea typeface="Consolas" pitchFamily="34" charset="-122"/>
                <a:cs typeface="Consolas" pitchFamily="34" charset="-120"/>
              </a:rPr>
              <a:t>NULL</a:t>
            </a:r>
            <a:pPr indent="0" marL="0">
              <a:buNone/>
            </a:pPr>
            <a:r>
              <a:rPr lang="en-US" sz="950" dirty="0">
                <a:solidFill>
                  <a:srgbClr val="FFFFFF"/>
                </a:solidFill>
                <a:latin typeface="Consolas" pitchFamily="34" charset="0"/>
                <a:ea typeface="Consolas" pitchFamily="34" charset="-122"/>
                <a:cs typeface="Consolas" pitchFamily="34" charset="-120"/>
              </a:rPr>
              <a:t>,</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unit_price    DECIMAL(10,2) </a:t>
            </a:r>
            <a:pPr indent="0" marL="0">
              <a:buNone/>
            </a:pPr>
            <a:r>
              <a:rPr lang="en-US" sz="950" dirty="0">
                <a:solidFill>
                  <a:srgbClr val="2DD4BF"/>
                </a:solidFill>
                <a:latin typeface="Consolas" pitchFamily="34" charset="0"/>
                <a:ea typeface="Consolas" pitchFamily="34" charset="-122"/>
                <a:cs typeface="Consolas" pitchFamily="34" charset="-120"/>
              </a:rPr>
              <a:t>NOT NULL CHECK</a:t>
            </a:r>
            <a:pPr indent="0" marL="0">
              <a:buNone/>
            </a:pPr>
            <a:r>
              <a:rPr lang="en-US" sz="950" dirty="0">
                <a:solidFill>
                  <a:srgbClr val="FFFFFF"/>
                </a:solidFill>
                <a:latin typeface="Consolas" pitchFamily="34" charset="0"/>
                <a:ea typeface="Consolas" pitchFamily="34" charset="-122"/>
                <a:cs typeface="Consolas" pitchFamily="34" charset="-120"/>
              </a:rPr>
              <a:t> (unit_price &gt;= 0),</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current_stock INT </a:t>
            </a:r>
            <a:pPr indent="0" marL="0">
              <a:buNone/>
            </a:pPr>
            <a:r>
              <a:rPr lang="en-US" sz="950" dirty="0">
                <a:solidFill>
                  <a:srgbClr val="2DD4BF"/>
                </a:solidFill>
                <a:latin typeface="Consolas" pitchFamily="34" charset="0"/>
                <a:ea typeface="Consolas" pitchFamily="34" charset="-122"/>
                <a:cs typeface="Consolas" pitchFamily="34" charset="-120"/>
              </a:rPr>
              <a:t>NOT NULL DEFAULT</a:t>
            </a:r>
            <a:pPr indent="0" marL="0">
              <a:buNone/>
            </a:pPr>
            <a:r>
              <a:rPr lang="en-US" sz="950" dirty="0">
                <a:solidFill>
                  <a:srgbClr val="FFFFFF"/>
                </a:solidFill>
                <a:latin typeface="Consolas" pitchFamily="34" charset="0"/>
                <a:ea typeface="Consolas" pitchFamily="34" charset="-122"/>
                <a:cs typeface="Consolas" pitchFamily="34" charset="-120"/>
              </a:rPr>
              <a:t> 0 </a:t>
            </a:r>
            <a:pPr indent="0" marL="0">
              <a:buNone/>
            </a:pPr>
            <a:r>
              <a:rPr lang="en-US" sz="950" dirty="0">
                <a:solidFill>
                  <a:srgbClr val="2DD4BF"/>
                </a:solidFill>
                <a:latin typeface="Consolas" pitchFamily="34" charset="0"/>
                <a:ea typeface="Consolas" pitchFamily="34" charset="-122"/>
                <a:cs typeface="Consolas" pitchFamily="34" charset="-120"/>
              </a:rPr>
              <a:t>CHECK</a:t>
            </a:r>
            <a:pPr indent="0" marL="0">
              <a:buNone/>
            </a:pPr>
            <a:r>
              <a:rPr lang="en-US" sz="950" dirty="0">
                <a:solidFill>
                  <a:srgbClr val="FFFFFF"/>
                </a:solidFill>
                <a:latin typeface="Consolas" pitchFamily="34" charset="0"/>
                <a:ea typeface="Consolas" pitchFamily="34" charset="-122"/>
                <a:cs typeface="Consolas" pitchFamily="34" charset="-120"/>
              </a:rPr>
              <a:t> (current_stock &gt;= 0),</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reorder_level INT </a:t>
            </a:r>
            <a:pPr indent="0" marL="0">
              <a:buNone/>
            </a:pPr>
            <a:r>
              <a:rPr lang="en-US" sz="950" dirty="0">
                <a:solidFill>
                  <a:srgbClr val="2DD4BF"/>
                </a:solidFill>
                <a:latin typeface="Consolas" pitchFamily="34" charset="0"/>
                <a:ea typeface="Consolas" pitchFamily="34" charset="-122"/>
                <a:cs typeface="Consolas" pitchFamily="34" charset="-120"/>
              </a:rPr>
              <a:t>NOT NULL DEFAULT</a:t>
            </a:r>
            <a:pPr indent="0" marL="0">
              <a:buNone/>
            </a:pPr>
            <a:r>
              <a:rPr lang="en-US" sz="950" dirty="0">
                <a:solidFill>
                  <a:srgbClr val="FFFFFF"/>
                </a:solidFill>
                <a:latin typeface="Consolas" pitchFamily="34" charset="0"/>
                <a:ea typeface="Consolas" pitchFamily="34" charset="-122"/>
                <a:cs typeface="Consolas" pitchFamily="34" charset="-120"/>
              </a:rPr>
              <a:t> 10 </a:t>
            </a:r>
            <a:pPr indent="0" marL="0">
              <a:buNone/>
            </a:pPr>
            <a:r>
              <a:rPr lang="en-US" sz="950" dirty="0">
                <a:solidFill>
                  <a:srgbClr val="2DD4BF"/>
                </a:solidFill>
                <a:latin typeface="Consolas" pitchFamily="34" charset="0"/>
                <a:ea typeface="Consolas" pitchFamily="34" charset="-122"/>
                <a:cs typeface="Consolas" pitchFamily="34" charset="-120"/>
              </a:rPr>
              <a:t>CHECK</a:t>
            </a:r>
            <a:pPr indent="0" marL="0">
              <a:buNone/>
            </a:pPr>
            <a:r>
              <a:rPr lang="en-US" sz="950" dirty="0">
                <a:solidFill>
                  <a:srgbClr val="FFFFFF"/>
                </a:solidFill>
                <a:latin typeface="Consolas" pitchFamily="34" charset="0"/>
                <a:ea typeface="Consolas" pitchFamily="34" charset="-122"/>
                <a:cs typeface="Consolas" pitchFamily="34" charset="-120"/>
              </a:rPr>
              <a:t> (reorder_level &gt;= 0),</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created_at    TIMESTAMP DEFAULT CURRENT_TIMESTAMP,</a:t>
            </a:r>
            <a:endParaRPr lang="en-US" sz="950" dirty="0"/>
          </a:p>
          <a:p>
            <a:pPr indent="0" marL="0">
              <a:buNone/>
            </a:pPr>
            <a:r>
              <a:rPr lang="en-US" sz="950" b="1" dirty="0">
                <a:solidFill>
                  <a:srgbClr val="A78BFA"/>
                </a:solidFill>
                <a:latin typeface="Consolas" pitchFamily="34" charset="0"/>
                <a:ea typeface="Consolas" pitchFamily="34" charset="-122"/>
                <a:cs typeface="Consolas" pitchFamily="34" charset="-120"/>
              </a:rPr>
              <a:t>  FOREIGN KEY </a:t>
            </a:r>
            <a:pPr indent="0" marL="0">
              <a:buNone/>
            </a:pPr>
            <a:r>
              <a:rPr lang="en-US" sz="950" dirty="0">
                <a:solidFill>
                  <a:srgbClr val="FFFFFF"/>
                </a:solidFill>
                <a:latin typeface="Consolas" pitchFamily="34" charset="0"/>
                <a:ea typeface="Consolas" pitchFamily="34" charset="-122"/>
                <a:cs typeface="Consolas" pitchFamily="34" charset="-120"/>
              </a:rPr>
              <a:t>(category_id) </a:t>
            </a:r>
            <a:pPr indent="0" marL="0">
              <a:buNone/>
            </a:pPr>
            <a:r>
              <a:rPr lang="en-US" sz="950" b="1" dirty="0">
                <a:solidFill>
                  <a:srgbClr val="A78BFA"/>
                </a:solidFill>
                <a:latin typeface="Consolas" pitchFamily="34" charset="0"/>
                <a:ea typeface="Consolas" pitchFamily="34" charset="-122"/>
                <a:cs typeface="Consolas" pitchFamily="34" charset="-120"/>
              </a:rPr>
              <a:t>REFERENCES </a:t>
            </a:r>
            <a:pPr indent="0" marL="0">
              <a:buNone/>
            </a:pPr>
            <a:r>
              <a:rPr lang="en-US" sz="950" dirty="0">
                <a:solidFill>
                  <a:srgbClr val="FFFFFF"/>
                </a:solidFill>
                <a:latin typeface="Consolas" pitchFamily="34" charset="0"/>
                <a:ea typeface="Consolas" pitchFamily="34" charset="-122"/>
                <a:cs typeface="Consolas" pitchFamily="34" charset="-120"/>
              </a:rPr>
              <a:t>categories(category_id),</a:t>
            </a:r>
            <a:endParaRPr lang="en-US" sz="950" dirty="0"/>
          </a:p>
          <a:p>
            <a:pPr indent="0" marL="0">
              <a:buNone/>
            </a:pPr>
            <a:r>
              <a:rPr lang="en-US" sz="950" b="1" dirty="0">
                <a:solidFill>
                  <a:srgbClr val="A78BFA"/>
                </a:solidFill>
                <a:latin typeface="Consolas" pitchFamily="34" charset="0"/>
                <a:ea typeface="Consolas" pitchFamily="34" charset="-122"/>
                <a:cs typeface="Consolas" pitchFamily="34" charset="-120"/>
              </a:rPr>
              <a:t>  FOREIGN KEY </a:t>
            </a:r>
            <a:pPr indent="0" marL="0">
              <a:buNone/>
            </a:pPr>
            <a:r>
              <a:rPr lang="en-US" sz="950" dirty="0">
                <a:solidFill>
                  <a:srgbClr val="FFFFFF"/>
                </a:solidFill>
                <a:latin typeface="Consolas" pitchFamily="34" charset="0"/>
                <a:ea typeface="Consolas" pitchFamily="34" charset="-122"/>
                <a:cs typeface="Consolas" pitchFamily="34" charset="-120"/>
              </a:rPr>
              <a:t>(supplier_id) </a:t>
            </a:r>
            <a:pPr indent="0" marL="0">
              <a:buNone/>
            </a:pPr>
            <a:r>
              <a:rPr lang="en-US" sz="950" b="1" dirty="0">
                <a:solidFill>
                  <a:srgbClr val="A78BFA"/>
                </a:solidFill>
                <a:latin typeface="Consolas" pitchFamily="34" charset="0"/>
                <a:ea typeface="Consolas" pitchFamily="34" charset="-122"/>
                <a:cs typeface="Consolas" pitchFamily="34" charset="-120"/>
              </a:rPr>
              <a:t>REFERENCES </a:t>
            </a:r>
            <a:pPr indent="0" marL="0">
              <a:buNone/>
            </a:pPr>
            <a:r>
              <a:rPr lang="en-US" sz="950" dirty="0">
                <a:solidFill>
                  <a:srgbClr val="FFFFFF"/>
                </a:solidFill>
                <a:latin typeface="Consolas" pitchFamily="34" charset="0"/>
                <a:ea typeface="Consolas" pitchFamily="34" charset="-122"/>
                <a:cs typeface="Consolas" pitchFamily="34" charset="-120"/>
              </a:rPr>
              <a:t>suppliers(supplier_id)</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a:t>
            </a:r>
            <a:endParaRPr lang="en-US" sz="950" dirty="0"/>
          </a:p>
        </p:txBody>
      </p:sp>
      <p:sp>
        <p:nvSpPr>
          <p:cNvPr id="10" name="Shape 7"/>
          <p:cNvSpPr/>
          <p:nvPr/>
        </p:nvSpPr>
        <p:spPr>
          <a:xfrm>
            <a:off x="6035040" y="1051560"/>
            <a:ext cx="2651760" cy="3520440"/>
          </a:xfrm>
          <a:prstGeom prst="roundRect">
            <a:avLst>
              <a:gd name="adj" fmla="val 2759"/>
            </a:avLst>
          </a:prstGeom>
          <a:solidFill>
            <a:srgbClr val="15204A"/>
          </a:solidFill>
          <a:ln w="12700">
            <a:solidFill>
              <a:srgbClr val="2A3768"/>
            </a:solidFill>
            <a:prstDash val="solid"/>
          </a:ln>
        </p:spPr>
      </p:sp>
      <p:sp>
        <p:nvSpPr>
          <p:cNvPr id="11" name="Text 8"/>
          <p:cNvSpPr txBox="1"/>
          <p:nvPr/>
        </p:nvSpPr>
        <p:spPr>
          <a:xfrm>
            <a:off x="6217920" y="1188720"/>
            <a:ext cx="2331720" cy="32918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rPr>
              <a:t>Primary key: uniquely identifies each row</a:t>
            </a:r>
            <a:endParaRPr lang="en-US" sz="1150" dirty="0"/>
          </a:p>
          <a:p>
            <a:pPr marL="342900" indent="-342900">
              <a:spcAft>
                <a:spcPts val="500"/>
              </a:spcAft>
              <a:buSzPct val="100000"/>
              <a:buChar char="•"/>
            </a:pPr>
            <a:r>
              <a:rPr lang="en-US" sz="1150" dirty="0">
                <a:solidFill>
                  <a:srgbClr val="FFFFFF"/>
                </a:solidFill>
              </a:rPr>
              <a:t>Foreign key: preserves referential integrity</a:t>
            </a:r>
            <a:endParaRPr lang="en-US" sz="1150" dirty="0"/>
          </a:p>
          <a:p>
            <a:pPr marL="342900" indent="-342900">
              <a:spcAft>
                <a:spcPts val="500"/>
              </a:spcAft>
              <a:buSzPct val="100000"/>
              <a:buChar char="•"/>
            </a:pPr>
            <a:r>
              <a:rPr lang="en-US" sz="1150" dirty="0">
                <a:solidFill>
                  <a:srgbClr val="FFFFFF"/>
                </a:solidFill>
              </a:rPr>
              <a:t>CHECK: non-negative price and stock</a:t>
            </a:r>
            <a:endParaRPr lang="en-US" sz="1150" dirty="0"/>
          </a:p>
          <a:p>
            <a:pPr marL="342900" indent="-342900">
              <a:spcAft>
                <a:spcPts val="500"/>
              </a:spcAft>
              <a:buSzPct val="100000"/>
              <a:buChar char="•"/>
            </a:pPr>
            <a:endParaRPr lang="en-US" sz="1150" dirty="0"/>
          </a:p>
          <a:p>
            <a:pPr marL="342900" indent="-342900">
              <a:buSzPct val="100000"/>
              <a:buChar char="•"/>
            </a:pPr>
            <a:r>
              <a:rPr lang="en-US" sz="1150" dirty="0">
                <a:solidFill>
                  <a:srgbClr val="FFFFFF"/>
                </a:solidFill>
              </a:rPr>
              <a:t>ENUM('IN','OUT') restricts transaction_type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Procedures, Triggers, Views and Queries</a:t>
            </a:r>
            <a:endParaRPr lang="en-US" sz="2200" dirty="0"/>
          </a:p>
        </p:txBody>
      </p:sp>
      <p:sp>
        <p:nvSpPr>
          <p:cNvPr id="4" name="Text 2"/>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8 / 12</a:t>
            </a:r>
            <a:endParaRPr lang="en-US" sz="900" dirty="0"/>
          </a:p>
        </p:txBody>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7" name="Shape 4"/>
          <p:cNvSpPr/>
          <p:nvPr/>
        </p:nvSpPr>
        <p:spPr>
          <a:xfrm>
            <a:off x="457200" y="1051560"/>
            <a:ext cx="4114800" cy="3520440"/>
          </a:xfrm>
          <a:prstGeom prst="roundRect">
            <a:avLst>
              <a:gd name="adj" fmla="val 1558"/>
            </a:avLst>
          </a:prstGeom>
          <a:solidFill>
            <a:srgbClr val="070D22"/>
          </a:solidFill>
          <a:ln w="12700">
            <a:solidFill>
              <a:srgbClr val="2A3768"/>
            </a:solidFill>
            <a:prstDash val="solid"/>
          </a:ln>
        </p:spPr>
      </p:sp>
      <p:sp>
        <p:nvSpPr>
          <p:cNvPr id="8" name="Text 5"/>
          <p:cNvSpPr txBox="1"/>
          <p:nvPr/>
        </p:nvSpPr>
        <p:spPr>
          <a:xfrm>
            <a:off x="566928" y="1124712"/>
            <a:ext cx="3895344" cy="3374136"/>
          </a:xfrm>
          <a:prstGeom prst="rect">
            <a:avLst/>
          </a:prstGeom>
          <a:noFill/>
          <a:ln/>
        </p:spPr>
        <p:txBody>
          <a:bodyPr wrap="square" lIns="0" tIns="0" rIns="0" bIns="0" rtlCol="0" anchor="t"/>
          <a:lstStyle/>
          <a:p>
            <a:pPr indent="0" marL="0">
              <a:buNone/>
            </a:pPr>
            <a:r>
              <a:rPr lang="en-US" sz="1000" dirty="0">
                <a:solidFill>
                  <a:srgbClr val="7C8DB8"/>
                </a:solidFill>
                <a:latin typeface="Consolas" pitchFamily="34" charset="0"/>
                <a:ea typeface="Consolas" pitchFamily="34" charset="-122"/>
                <a:cs typeface="Consolas" pitchFamily="34" charset="-120"/>
              </a:rPr>
              <a:t>-- Procedures record transactions</a:t>
            </a:r>
            <a:endParaRPr lang="en-US" sz="1000" dirty="0"/>
          </a:p>
          <a:p>
            <a:pPr indent="0" marL="0">
              <a:buNone/>
            </a:pPr>
            <a:r>
              <a:rPr lang="en-US" sz="1000" b="1" dirty="0">
                <a:solidFill>
                  <a:srgbClr val="A78BFA"/>
                </a:solidFill>
                <a:latin typeface="Consolas" pitchFamily="34" charset="0"/>
                <a:ea typeface="Consolas" pitchFamily="34" charset="-122"/>
                <a:cs typeface="Consolas" pitchFamily="34" charset="-120"/>
              </a:rPr>
              <a:t>CALL </a:t>
            </a:r>
            <a:pPr indent="0" marL="0">
              <a:buNone/>
            </a:pPr>
            <a:r>
              <a:rPr lang="en-US" sz="1000" dirty="0">
                <a:solidFill>
                  <a:srgbClr val="FFFFFF"/>
                </a:solidFill>
                <a:latin typeface="Consolas" pitchFamily="34" charset="0"/>
                <a:ea typeface="Consolas" pitchFamily="34" charset="-122"/>
                <a:cs typeface="Consolas" pitchFamily="34" charset="-120"/>
              </a:rPr>
              <a:t>add_stock(1, 10, </a:t>
            </a:r>
            <a:pPr indent="0" marL="0">
              <a:buNone/>
            </a:pPr>
            <a:r>
              <a:rPr lang="en-US" sz="1000" dirty="0">
                <a:solidFill>
                  <a:srgbClr val="2DD4BF"/>
                </a:solidFill>
                <a:latin typeface="Consolas" pitchFamily="34" charset="0"/>
                <a:ea typeface="Consolas" pitchFamily="34" charset="-122"/>
                <a:cs typeface="Consolas" pitchFamily="34" charset="-120"/>
              </a:rPr>
              <a:t>'Restock'</a:t>
            </a:r>
            <a:pPr indent="0" marL="0">
              <a:buNone/>
            </a:pP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r>
              <a:rPr lang="en-US" sz="1000" b="1" dirty="0">
                <a:solidFill>
                  <a:srgbClr val="A78BFA"/>
                </a:solidFill>
                <a:latin typeface="Consolas" pitchFamily="34" charset="0"/>
                <a:ea typeface="Consolas" pitchFamily="34" charset="-122"/>
                <a:cs typeface="Consolas" pitchFamily="34" charset="-120"/>
              </a:rPr>
              <a:t>CALL </a:t>
            </a:r>
            <a:pPr indent="0" marL="0">
              <a:buNone/>
            </a:pPr>
            <a:r>
              <a:rPr lang="en-US" sz="1000" dirty="0">
                <a:solidFill>
                  <a:srgbClr val="FFFFFF"/>
                </a:solidFill>
                <a:latin typeface="Consolas" pitchFamily="34" charset="0"/>
                <a:ea typeface="Consolas" pitchFamily="34" charset="-122"/>
                <a:cs typeface="Consolas" pitchFamily="34" charset="-120"/>
              </a:rPr>
              <a:t>remove_stock(1, 3, </a:t>
            </a:r>
            <a:pPr indent="0" marL="0">
              <a:buNone/>
            </a:pPr>
            <a:r>
              <a:rPr lang="en-US" sz="1000" dirty="0">
                <a:solidFill>
                  <a:srgbClr val="2DD4BF"/>
                </a:solidFill>
                <a:latin typeface="Consolas" pitchFamily="34" charset="0"/>
                <a:ea typeface="Consolas" pitchFamily="34" charset="-122"/>
                <a:cs typeface="Consolas" pitchFamily="34" charset="-120"/>
              </a:rPr>
              <a:t>'Items issued'</a:t>
            </a:r>
            <a:pPr indent="0" marL="0">
              <a:buNone/>
            </a:pP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7C8DB8"/>
                </a:solidFill>
                <a:latin typeface="Consolas" pitchFamily="34" charset="0"/>
                <a:ea typeface="Consolas" pitchFamily="34" charset="-122"/>
                <a:cs typeface="Consolas" pitchFamily="34" charset="-120"/>
              </a:rPr>
              <a:t>-- Inventory value</a:t>
            </a:r>
            <a:endParaRPr lang="en-US" sz="1000" dirty="0"/>
          </a:p>
          <a:p>
            <a:pPr indent="0" marL="0">
              <a:buNone/>
            </a:pPr>
            <a:r>
              <a:rPr lang="en-US" sz="1000" b="1" dirty="0">
                <a:solidFill>
                  <a:srgbClr val="A78BFA"/>
                </a:solidFill>
                <a:latin typeface="Consolas" pitchFamily="34" charset="0"/>
                <a:ea typeface="Consolas" pitchFamily="34" charset="-122"/>
                <a:cs typeface="Consolas" pitchFamily="34" charset="-120"/>
              </a:rPr>
              <a:t>SELECT SUM</a:t>
            </a:r>
            <a:pPr indent="0" marL="0">
              <a:buNone/>
            </a:pPr>
            <a:r>
              <a:rPr lang="en-US" sz="1000" dirty="0">
                <a:solidFill>
                  <a:srgbClr val="FFFFFF"/>
                </a:solidFill>
                <a:latin typeface="Consolas" pitchFamily="34" charset="0"/>
                <a:ea typeface="Consolas" pitchFamily="34" charset="-122"/>
                <a:cs typeface="Consolas" pitchFamily="34" charset="-120"/>
              </a:rPr>
              <a:t>(unit_price * current_stock)</a:t>
            </a:r>
            <a:endParaRPr lang="en-US" sz="1000" dirty="0"/>
          </a:p>
          <a:p>
            <a:pPr indent="0" marL="0">
              <a:buNone/>
            </a:pPr>
            <a:r>
              <a:rPr lang="en-US" sz="1000" b="1" dirty="0">
                <a:solidFill>
                  <a:srgbClr val="A78BFA"/>
                </a:solidFill>
                <a:latin typeface="Consolas" pitchFamily="34" charset="0"/>
                <a:ea typeface="Consolas" pitchFamily="34" charset="-122"/>
                <a:cs typeface="Consolas" pitchFamily="34" charset="-120"/>
              </a:rPr>
              <a:t>FROM </a:t>
            </a:r>
            <a:pPr indent="0" marL="0">
              <a:buNone/>
            </a:pPr>
            <a:r>
              <a:rPr lang="en-US" sz="1000" dirty="0">
                <a:solidFill>
                  <a:srgbClr val="FFFFFF"/>
                </a:solidFill>
                <a:latin typeface="Consolas" pitchFamily="34" charset="0"/>
                <a:ea typeface="Consolas" pitchFamily="34" charset="-122"/>
                <a:cs typeface="Consolas" pitchFamily="34" charset="-120"/>
              </a:rPr>
              <a:t>products;</a:t>
            </a:r>
            <a:endParaRPr lang="en-US" sz="1000" dirty="0"/>
          </a:p>
          <a:p>
            <a:pPr indent="0" marL="0">
              <a:buNone/>
            </a:pPr>
            <a:endParaRPr lang="en-US" sz="1000" dirty="0"/>
          </a:p>
          <a:p>
            <a:pPr indent="0" marL="0">
              <a:buNone/>
            </a:pPr>
            <a:r>
              <a:rPr lang="en-US" sz="1000" dirty="0">
                <a:solidFill>
                  <a:srgbClr val="7C8DB8"/>
                </a:solidFill>
                <a:latin typeface="Consolas" pitchFamily="34" charset="0"/>
                <a:ea typeface="Consolas" pitchFamily="34" charset="-122"/>
                <a:cs typeface="Consolas" pitchFamily="34" charset="-120"/>
              </a:rPr>
              <a:t>-- Low stock</a:t>
            </a:r>
            <a:endParaRPr lang="en-US" sz="1000" dirty="0"/>
          </a:p>
          <a:p>
            <a:pPr indent="0" marL="0">
              <a:buNone/>
            </a:pPr>
            <a:r>
              <a:rPr lang="en-US" sz="1000" b="1" dirty="0">
                <a:solidFill>
                  <a:srgbClr val="A78BFA"/>
                </a:solidFill>
                <a:latin typeface="Consolas" pitchFamily="34" charset="0"/>
                <a:ea typeface="Consolas" pitchFamily="34" charset="-122"/>
                <a:cs typeface="Consolas" pitchFamily="34" charset="-120"/>
              </a:rPr>
              <a:t>SELECT </a:t>
            </a:r>
            <a:pPr indent="0" marL="0">
              <a:buNone/>
            </a:pPr>
            <a:r>
              <a:rPr lang="en-US" sz="1000" dirty="0">
                <a:solidFill>
                  <a:srgbClr val="FFFFFF"/>
                </a:solidFill>
                <a:latin typeface="Consolas" pitchFamily="34" charset="0"/>
                <a:ea typeface="Consolas" pitchFamily="34" charset="-122"/>
                <a:cs typeface="Consolas" pitchFamily="34" charset="-120"/>
              </a:rPr>
              <a:t>product_name, current_stock</a:t>
            </a:r>
            <a:endParaRPr lang="en-US" sz="1000" dirty="0"/>
          </a:p>
          <a:p>
            <a:pPr indent="0" marL="0">
              <a:buNone/>
            </a:pPr>
            <a:r>
              <a:rPr lang="en-US" sz="1000" b="1" dirty="0">
                <a:solidFill>
                  <a:srgbClr val="A78BFA"/>
                </a:solidFill>
                <a:latin typeface="Consolas" pitchFamily="34" charset="0"/>
                <a:ea typeface="Consolas" pitchFamily="34" charset="-122"/>
                <a:cs typeface="Consolas" pitchFamily="34" charset="-120"/>
              </a:rPr>
              <a:t>FROM </a:t>
            </a:r>
            <a:pPr indent="0" marL="0">
              <a:buNone/>
            </a:pPr>
            <a:r>
              <a:rPr lang="en-US" sz="1000" dirty="0">
                <a:solidFill>
                  <a:srgbClr val="FFFFFF"/>
                </a:solidFill>
                <a:latin typeface="Consolas" pitchFamily="34" charset="0"/>
                <a:ea typeface="Consolas" pitchFamily="34" charset="-122"/>
                <a:cs typeface="Consolas" pitchFamily="34" charset="-120"/>
              </a:rPr>
              <a:t>products</a:t>
            </a:r>
            <a:endParaRPr lang="en-US" sz="1000" dirty="0"/>
          </a:p>
          <a:p>
            <a:pPr indent="0" marL="0">
              <a:buNone/>
            </a:pPr>
            <a:r>
              <a:rPr lang="en-US" sz="1000" b="1" dirty="0">
                <a:solidFill>
                  <a:srgbClr val="A78BFA"/>
                </a:solidFill>
                <a:latin typeface="Consolas" pitchFamily="34" charset="0"/>
                <a:ea typeface="Consolas" pitchFamily="34" charset="-122"/>
                <a:cs typeface="Consolas" pitchFamily="34" charset="-120"/>
              </a:rPr>
              <a:t>WHERE </a:t>
            </a:r>
            <a:pPr indent="0" marL="0">
              <a:buNone/>
            </a:pPr>
            <a:r>
              <a:rPr lang="en-US" sz="1000" dirty="0">
                <a:solidFill>
                  <a:srgbClr val="FFFFFF"/>
                </a:solidFill>
                <a:latin typeface="Consolas" pitchFamily="34" charset="0"/>
                <a:ea typeface="Consolas" pitchFamily="34" charset="-122"/>
                <a:cs typeface="Consolas" pitchFamily="34" charset="-120"/>
              </a:rPr>
              <a:t>current_stock &lt;= reorder_level;</a:t>
            </a:r>
            <a:endParaRPr lang="en-US" sz="1000" dirty="0"/>
          </a:p>
        </p:txBody>
      </p:sp>
      <p:sp>
        <p:nvSpPr>
          <p:cNvPr id="9" name="Shape 6"/>
          <p:cNvSpPr/>
          <p:nvPr/>
        </p:nvSpPr>
        <p:spPr>
          <a:xfrm>
            <a:off x="4754880" y="1051560"/>
            <a:ext cx="3931920" cy="1417320"/>
          </a:xfrm>
          <a:prstGeom prst="roundRect">
            <a:avLst>
              <a:gd name="adj" fmla="val 5161"/>
            </a:avLst>
          </a:prstGeom>
          <a:solidFill>
            <a:srgbClr val="15204A"/>
          </a:solidFill>
          <a:ln w="12700">
            <a:solidFill>
              <a:srgbClr val="2DD4BF"/>
            </a:solidFill>
            <a:prstDash val="solid"/>
          </a:ln>
        </p:spPr>
      </p:sp>
      <p:sp>
        <p:nvSpPr>
          <p:cNvPr id="10" name="Text 7"/>
          <p:cNvSpPr txBox="1"/>
          <p:nvPr/>
        </p:nvSpPr>
        <p:spPr>
          <a:xfrm>
            <a:off x="4937760" y="1115568"/>
            <a:ext cx="3657600" cy="274320"/>
          </a:xfrm>
          <a:prstGeom prst="rect">
            <a:avLst/>
          </a:prstGeom>
          <a:noFill/>
          <a:ln/>
        </p:spPr>
        <p:txBody>
          <a:bodyPr wrap="square" lIns="0" tIns="0" rIns="0" bIns="0" rtlCol="0" anchor="t"/>
          <a:lstStyle/>
          <a:p>
            <a:pPr indent="0" marL="0">
              <a:buNone/>
            </a:pPr>
            <a:r>
              <a:rPr lang="en-US" sz="1200" b="1" dirty="0">
                <a:solidFill>
                  <a:srgbClr val="2DD4BF"/>
                </a:solidFill>
              </a:rPr>
              <a:t>Triggers on stock_transactions</a:t>
            </a:r>
            <a:endParaRPr lang="en-US" sz="1200" dirty="0"/>
          </a:p>
        </p:txBody>
      </p:sp>
      <p:sp>
        <p:nvSpPr>
          <p:cNvPr id="11" name="Text 8"/>
          <p:cNvSpPr txBox="1"/>
          <p:nvPr/>
        </p:nvSpPr>
        <p:spPr>
          <a:xfrm>
            <a:off x="4937760" y="1417320"/>
            <a:ext cx="3611880" cy="10058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FFFFFF"/>
                </a:solidFill>
              </a:rPr>
              <a:t>BEFORE INSERT: for OUT, blocks quantity above current stock</a:t>
            </a:r>
            <a:endParaRPr lang="en-US" sz="1050" dirty="0"/>
          </a:p>
          <a:p>
            <a:pPr marL="342900" indent="-342900">
              <a:spcAft>
                <a:spcPts val="500"/>
              </a:spcAft>
              <a:buSzPct val="100000"/>
              <a:buChar char="•"/>
            </a:pPr>
            <a:r>
              <a:rPr lang="en-US" sz="1050" dirty="0">
                <a:solidFill>
                  <a:srgbClr val="FFFFFF"/>
                </a:solidFill>
              </a:rPr>
              <a:t>AFTER INSERT: adds (IN) or subtracts (OUT) quantity in products</a:t>
            </a:r>
            <a:endParaRPr lang="en-US" sz="1050" dirty="0"/>
          </a:p>
        </p:txBody>
      </p:sp>
      <p:sp>
        <p:nvSpPr>
          <p:cNvPr id="12" name="Shape 9"/>
          <p:cNvSpPr/>
          <p:nvPr/>
        </p:nvSpPr>
        <p:spPr>
          <a:xfrm>
            <a:off x="4754880" y="2606040"/>
            <a:ext cx="3931920" cy="868680"/>
          </a:xfrm>
          <a:prstGeom prst="roundRect">
            <a:avLst>
              <a:gd name="adj" fmla="val 8421"/>
            </a:avLst>
          </a:prstGeom>
          <a:solidFill>
            <a:srgbClr val="15204A"/>
          </a:solidFill>
          <a:ln w="12700">
            <a:solidFill>
              <a:srgbClr val="A78BFA"/>
            </a:solidFill>
            <a:prstDash val="solid"/>
          </a:ln>
        </p:spPr>
      </p:sp>
      <p:sp>
        <p:nvSpPr>
          <p:cNvPr id="13" name="Text 10"/>
          <p:cNvSpPr txBox="1"/>
          <p:nvPr/>
        </p:nvSpPr>
        <p:spPr>
          <a:xfrm>
            <a:off x="4937760" y="2651760"/>
            <a:ext cx="3657600" cy="274320"/>
          </a:xfrm>
          <a:prstGeom prst="rect">
            <a:avLst/>
          </a:prstGeom>
          <a:noFill/>
          <a:ln/>
        </p:spPr>
        <p:txBody>
          <a:bodyPr wrap="square" lIns="0" tIns="0" rIns="0" bIns="0" rtlCol="0" anchor="t"/>
          <a:lstStyle/>
          <a:p>
            <a:pPr indent="0" marL="0">
              <a:buNone/>
            </a:pPr>
            <a:r>
              <a:rPr lang="en-US" sz="1200" b="1" dirty="0">
                <a:solidFill>
                  <a:srgbClr val="A78BFA"/>
                </a:solidFill>
              </a:rPr>
              <a:t>Views</a:t>
            </a:r>
            <a:endParaRPr lang="en-US" sz="1200" dirty="0"/>
          </a:p>
        </p:txBody>
      </p:sp>
      <p:sp>
        <p:nvSpPr>
          <p:cNvPr id="14" name="Text 11"/>
          <p:cNvSpPr txBox="1"/>
          <p:nvPr/>
        </p:nvSpPr>
        <p:spPr>
          <a:xfrm>
            <a:off x="4937760" y="2926080"/>
            <a:ext cx="3611880" cy="457200"/>
          </a:xfrm>
          <a:prstGeom prst="rect">
            <a:avLst/>
          </a:prstGeom>
          <a:noFill/>
          <a:ln/>
        </p:spPr>
        <p:txBody>
          <a:bodyPr wrap="square" lIns="0" tIns="0" rIns="0" bIns="0" rtlCol="0" anchor="t"/>
          <a:lstStyle/>
          <a:p>
            <a:pPr indent="0" marL="0">
              <a:buNone/>
            </a:pPr>
            <a:r>
              <a:rPr lang="en-US" sz="1050" dirty="0">
                <a:solidFill>
                  <a:srgbClr val="FFFFFF"/>
                </a:solidFill>
                <a:latin typeface="Consolas" pitchFamily="34" charset="0"/>
                <a:ea typeface="Consolas" pitchFamily="34" charset="-122"/>
                <a:cs typeface="Consolas" pitchFamily="34" charset="-120"/>
              </a:rPr>
              <a:t>inventory_report  •  low_stock_alerts  •  transaction_history</a:t>
            </a:r>
            <a:endParaRPr lang="en-US" sz="1050" dirty="0"/>
          </a:p>
        </p:txBody>
      </p:sp>
      <p:sp>
        <p:nvSpPr>
          <p:cNvPr id="15" name="Shape 12"/>
          <p:cNvSpPr/>
          <p:nvPr/>
        </p:nvSpPr>
        <p:spPr>
          <a:xfrm>
            <a:off x="4754880" y="3611880"/>
            <a:ext cx="3931920" cy="960120"/>
          </a:xfrm>
          <a:prstGeom prst="roundRect">
            <a:avLst>
              <a:gd name="adj" fmla="val 7619"/>
            </a:avLst>
          </a:prstGeom>
          <a:solidFill>
            <a:srgbClr val="15204A"/>
          </a:solidFill>
          <a:ln w="12700">
            <a:solidFill>
              <a:srgbClr val="2A3768"/>
            </a:solidFill>
            <a:prstDash val="solid"/>
          </a:ln>
        </p:spPr>
      </p:sp>
      <p:sp>
        <p:nvSpPr>
          <p:cNvPr id="16" name="Text 13"/>
          <p:cNvSpPr txBox="1"/>
          <p:nvPr/>
        </p:nvSpPr>
        <p:spPr>
          <a:xfrm>
            <a:off x="4937760" y="3703320"/>
            <a:ext cx="3611880" cy="822960"/>
          </a:xfrm>
          <a:prstGeom prst="rect">
            <a:avLst/>
          </a:prstGeom>
          <a:noFill/>
          <a:ln/>
        </p:spPr>
        <p:txBody>
          <a:bodyPr wrap="square" lIns="0" tIns="0" rIns="0" bIns="0" rtlCol="0" anchor="ctr"/>
          <a:lstStyle/>
          <a:p>
            <a:pPr indent="0" marL="0">
              <a:buNone/>
            </a:pPr>
            <a:r>
              <a:rPr lang="en-US" sz="1100" dirty="0">
                <a:solidFill>
                  <a:srgbClr val="A9B4D6"/>
                </a:solidFill>
              </a:rPr>
              <a:t>Flow: procedure inserts a transaction row, BEFORE trigger validates, AFTER trigger updates current_stock.</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System Demonstration: Website</a:t>
            </a:r>
            <a:endParaRPr lang="en-US" sz="2200" dirty="0"/>
          </a:p>
        </p:txBody>
      </p:sp>
      <p:sp>
        <p:nvSpPr>
          <p:cNvPr id="4" name="Text 2"/>
          <p:cNvSpPr txBox="1"/>
          <p:nvPr/>
        </p:nvSpPr>
        <p:spPr>
          <a:xfrm>
            <a:off x="640080" y="658368"/>
            <a:ext cx="8046720" cy="228600"/>
          </a:xfrm>
          <a:prstGeom prst="rect">
            <a:avLst/>
          </a:prstGeom>
          <a:noFill/>
          <a:ln/>
        </p:spPr>
        <p:txBody>
          <a:bodyPr wrap="square" lIns="0" tIns="0" rIns="0" bIns="0" rtlCol="0" anchor="ctr"/>
          <a:lstStyle/>
          <a:p>
            <a:pPr indent="0" marL="0">
              <a:buNone/>
            </a:pPr>
            <a:r>
              <a:rPr lang="en-US" sz="1100" dirty="0">
                <a:solidFill>
                  <a:srgbClr val="A9B4D6"/>
                </a:solidFill>
              </a:rPr>
              <a:t>StockPilot  |  interactive browser-only demo (local storage) | illustrative mockup, not a screenshot</a:t>
            </a:r>
            <a:endParaRPr lang="en-US" sz="1100" dirty="0"/>
          </a:p>
        </p:txBody>
      </p:sp>
      <p:sp>
        <p:nvSpPr>
          <p:cNvPr id="5" name="Text 3"/>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9 / 12</a:t>
            </a:r>
            <a:endParaRPr lang="en-US" sz="9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8" name="Shape 5"/>
          <p:cNvSpPr/>
          <p:nvPr/>
        </p:nvSpPr>
        <p:spPr>
          <a:xfrm>
            <a:off x="457200" y="1051560"/>
            <a:ext cx="5577840" cy="3520440"/>
          </a:xfrm>
          <a:prstGeom prst="roundRect">
            <a:avLst>
              <a:gd name="adj" fmla="val 1558"/>
            </a:avLst>
          </a:prstGeom>
          <a:solidFill>
            <a:srgbClr val="F4F6FB"/>
          </a:solidFill>
          <a:ln w="12700">
            <a:solidFill>
              <a:srgbClr val="2A3768"/>
            </a:solidFill>
            <a:prstDash val="solid"/>
          </a:ln>
        </p:spPr>
      </p:sp>
      <p:sp>
        <p:nvSpPr>
          <p:cNvPr id="9" name="Shape 6"/>
          <p:cNvSpPr/>
          <p:nvPr/>
        </p:nvSpPr>
        <p:spPr>
          <a:xfrm>
            <a:off x="457200" y="1051560"/>
            <a:ext cx="1005840" cy="3520440"/>
          </a:xfrm>
          <a:prstGeom prst="rect">
            <a:avLst/>
          </a:prstGeom>
          <a:solidFill>
            <a:srgbClr val="1E2A66"/>
          </a:solidFill>
          <a:ln w="12700">
            <a:solidFill>
              <a:srgbClr val="1E2A66"/>
            </a:solidFill>
            <a:prstDash val="solid"/>
          </a:ln>
        </p:spPr>
      </p:sp>
      <p:sp>
        <p:nvSpPr>
          <p:cNvPr id="10" name="Text 7"/>
          <p:cNvSpPr txBox="1"/>
          <p:nvPr/>
        </p:nvSpPr>
        <p:spPr>
          <a:xfrm>
            <a:off x="548640" y="1188720"/>
            <a:ext cx="914400" cy="1828800"/>
          </a:xfrm>
          <a:prstGeom prst="rect">
            <a:avLst/>
          </a:prstGeom>
          <a:noFill/>
          <a:ln/>
        </p:spPr>
        <p:txBody>
          <a:bodyPr wrap="square" lIns="0" tIns="0" rIns="0" bIns="0" rtlCol="0" anchor="t"/>
          <a:lstStyle/>
          <a:p>
            <a:pPr indent="0" marL="0">
              <a:spcAft>
                <a:spcPts val="500"/>
              </a:spcAft>
              <a:buNone/>
            </a:pPr>
            <a:r>
              <a:rPr lang="en-US" sz="900" b="1" dirty="0">
                <a:solidFill>
                  <a:srgbClr val="2DD4BF"/>
                </a:solidFill>
              </a:rPr>
              <a:t>StockPilot</a:t>
            </a:r>
            <a:endParaRPr lang="en-US" sz="900" dirty="0"/>
          </a:p>
          <a:p>
            <a:pPr indent="0" marL="0">
              <a:spcAft>
                <a:spcPts val="500"/>
              </a:spcAft>
              <a:buNone/>
            </a:pPr>
            <a:r>
              <a:rPr lang="en-US" sz="900" dirty="0">
                <a:solidFill>
                  <a:srgbClr val="FFFFFF"/>
                </a:solidFill>
              </a:rPr>
              <a:t> </a:t>
            </a:r>
            <a:endParaRPr lang="en-US" sz="900" dirty="0"/>
          </a:p>
          <a:p>
            <a:pPr indent="0" marL="0">
              <a:spcAft>
                <a:spcPts val="500"/>
              </a:spcAft>
              <a:buNone/>
            </a:pPr>
            <a:r>
              <a:rPr lang="en-US" sz="900" dirty="0">
                <a:solidFill>
                  <a:srgbClr val="FFFFFF"/>
                </a:solidFill>
              </a:rPr>
              <a:t>Dashboard</a:t>
            </a:r>
            <a:endParaRPr lang="en-US" sz="900" dirty="0"/>
          </a:p>
          <a:p>
            <a:pPr indent="0" marL="0">
              <a:spcAft>
                <a:spcPts val="500"/>
              </a:spcAft>
              <a:buNone/>
            </a:pPr>
            <a:r>
              <a:rPr lang="en-US" sz="900" dirty="0">
                <a:solidFill>
                  <a:srgbClr val="FFFFFF"/>
                </a:solidFill>
              </a:rPr>
              <a:t>Products</a:t>
            </a:r>
            <a:endParaRPr lang="en-US" sz="900" dirty="0"/>
          </a:p>
          <a:p>
            <a:pPr indent="0" marL="0">
              <a:spcAft>
                <a:spcPts val="500"/>
              </a:spcAft>
              <a:buNone/>
            </a:pPr>
            <a:r>
              <a:rPr lang="en-US" sz="900" dirty="0">
                <a:solidFill>
                  <a:srgbClr val="FFFFFF"/>
                </a:solidFill>
              </a:rPr>
              <a:t>Categories</a:t>
            </a:r>
            <a:endParaRPr lang="en-US" sz="900" dirty="0"/>
          </a:p>
          <a:p>
            <a:pPr indent="0" marL="0">
              <a:spcAft>
                <a:spcPts val="500"/>
              </a:spcAft>
              <a:buNone/>
            </a:pPr>
            <a:r>
              <a:rPr lang="en-US" sz="900" dirty="0">
                <a:solidFill>
                  <a:srgbClr val="FFFFFF"/>
                </a:solidFill>
              </a:rPr>
              <a:t>Suppliers</a:t>
            </a:r>
            <a:endParaRPr lang="en-US" sz="900" dirty="0"/>
          </a:p>
          <a:p>
            <a:pPr indent="0" marL="0">
              <a:spcAft>
                <a:spcPts val="500"/>
              </a:spcAft>
              <a:buNone/>
            </a:pPr>
            <a:r>
              <a:rPr lang="en-US" sz="900" dirty="0">
                <a:solidFill>
                  <a:srgbClr val="FFFFFF"/>
                </a:solidFill>
              </a:rPr>
              <a:t>Reports</a:t>
            </a:r>
            <a:endParaRPr lang="en-US" sz="900" dirty="0"/>
          </a:p>
        </p:txBody>
      </p:sp>
      <p:sp>
        <p:nvSpPr>
          <p:cNvPr id="11" name="Shape 8"/>
          <p:cNvSpPr/>
          <p:nvPr/>
        </p:nvSpPr>
        <p:spPr>
          <a:xfrm>
            <a:off x="1600200" y="1188720"/>
            <a:ext cx="1325880" cy="594360"/>
          </a:xfrm>
          <a:prstGeom prst="roundRect">
            <a:avLst>
              <a:gd name="adj" fmla="val 7692"/>
            </a:avLst>
          </a:prstGeom>
          <a:solidFill>
            <a:srgbClr val="FFFFFF"/>
          </a:solidFill>
          <a:ln w="12700">
            <a:solidFill>
              <a:srgbClr val="D5DBEC"/>
            </a:solidFill>
            <a:prstDash val="solid"/>
          </a:ln>
        </p:spPr>
      </p:sp>
      <p:sp>
        <p:nvSpPr>
          <p:cNvPr id="12" name="Text 9"/>
          <p:cNvSpPr txBox="1"/>
          <p:nvPr/>
        </p:nvSpPr>
        <p:spPr>
          <a:xfrm>
            <a:off x="1691640" y="1234440"/>
            <a:ext cx="1188720" cy="182880"/>
          </a:xfrm>
          <a:prstGeom prst="rect">
            <a:avLst/>
          </a:prstGeom>
          <a:noFill/>
          <a:ln/>
        </p:spPr>
        <p:txBody>
          <a:bodyPr wrap="square" lIns="0" tIns="0" rIns="0" bIns="0" rtlCol="0" anchor="t"/>
          <a:lstStyle/>
          <a:p>
            <a:pPr indent="0" marL="0">
              <a:buNone/>
            </a:pPr>
            <a:r>
              <a:rPr lang="en-US" sz="800" dirty="0">
                <a:solidFill>
                  <a:srgbClr val="5A6483"/>
                </a:solidFill>
              </a:rPr>
              <a:t>Products</a:t>
            </a:r>
            <a:endParaRPr lang="en-US" sz="800" dirty="0"/>
          </a:p>
        </p:txBody>
      </p:sp>
      <p:sp>
        <p:nvSpPr>
          <p:cNvPr id="13" name="Text 10"/>
          <p:cNvSpPr txBox="1"/>
          <p:nvPr/>
        </p:nvSpPr>
        <p:spPr>
          <a:xfrm>
            <a:off x="1691640" y="1417320"/>
            <a:ext cx="1188720" cy="320040"/>
          </a:xfrm>
          <a:prstGeom prst="rect">
            <a:avLst/>
          </a:prstGeom>
          <a:noFill/>
          <a:ln/>
        </p:spPr>
        <p:txBody>
          <a:bodyPr wrap="square" lIns="0" tIns="0" rIns="0" bIns="0" rtlCol="0" anchor="t"/>
          <a:lstStyle/>
          <a:p>
            <a:pPr indent="0" marL="0">
              <a:buNone/>
            </a:pPr>
            <a:r>
              <a:rPr lang="en-US" sz="1600" b="1" dirty="0">
                <a:solidFill>
                  <a:srgbClr val="0B1530"/>
                </a:solidFill>
              </a:rPr>
              <a:t>5</a:t>
            </a:r>
            <a:endParaRPr lang="en-US" sz="1600" dirty="0"/>
          </a:p>
        </p:txBody>
      </p:sp>
      <p:sp>
        <p:nvSpPr>
          <p:cNvPr id="14" name="Shape 11"/>
          <p:cNvSpPr/>
          <p:nvPr/>
        </p:nvSpPr>
        <p:spPr>
          <a:xfrm>
            <a:off x="3063240" y="1188720"/>
            <a:ext cx="1325880" cy="594360"/>
          </a:xfrm>
          <a:prstGeom prst="roundRect">
            <a:avLst>
              <a:gd name="adj" fmla="val 7692"/>
            </a:avLst>
          </a:prstGeom>
          <a:solidFill>
            <a:srgbClr val="FFFFFF"/>
          </a:solidFill>
          <a:ln w="12700">
            <a:solidFill>
              <a:srgbClr val="D5DBEC"/>
            </a:solidFill>
            <a:prstDash val="solid"/>
          </a:ln>
        </p:spPr>
      </p:sp>
      <p:sp>
        <p:nvSpPr>
          <p:cNvPr id="15" name="Text 12"/>
          <p:cNvSpPr txBox="1"/>
          <p:nvPr/>
        </p:nvSpPr>
        <p:spPr>
          <a:xfrm>
            <a:off x="3154680" y="1234440"/>
            <a:ext cx="1188720" cy="182880"/>
          </a:xfrm>
          <a:prstGeom prst="rect">
            <a:avLst/>
          </a:prstGeom>
          <a:noFill/>
          <a:ln/>
        </p:spPr>
        <p:txBody>
          <a:bodyPr wrap="square" lIns="0" tIns="0" rIns="0" bIns="0" rtlCol="0" anchor="t"/>
          <a:lstStyle/>
          <a:p>
            <a:pPr indent="0" marL="0">
              <a:buNone/>
            </a:pPr>
            <a:r>
              <a:rPr lang="en-US" sz="800" dirty="0">
                <a:solidFill>
                  <a:srgbClr val="5A6483"/>
                </a:solidFill>
              </a:rPr>
              <a:t>Low stock</a:t>
            </a:r>
            <a:endParaRPr lang="en-US" sz="800" dirty="0"/>
          </a:p>
        </p:txBody>
      </p:sp>
      <p:sp>
        <p:nvSpPr>
          <p:cNvPr id="16" name="Text 13"/>
          <p:cNvSpPr txBox="1"/>
          <p:nvPr/>
        </p:nvSpPr>
        <p:spPr>
          <a:xfrm>
            <a:off x="3154680" y="1417320"/>
            <a:ext cx="1188720" cy="320040"/>
          </a:xfrm>
          <a:prstGeom prst="rect">
            <a:avLst/>
          </a:prstGeom>
          <a:noFill/>
          <a:ln/>
        </p:spPr>
        <p:txBody>
          <a:bodyPr wrap="square" lIns="0" tIns="0" rIns="0" bIns="0" rtlCol="0" anchor="t"/>
          <a:lstStyle/>
          <a:p>
            <a:pPr indent="0" marL="0">
              <a:buNone/>
            </a:pPr>
            <a:r>
              <a:rPr lang="en-US" sz="1600" b="1" dirty="0">
                <a:solidFill>
                  <a:srgbClr val="0B1530"/>
                </a:solidFill>
              </a:rPr>
              <a:t>2</a:t>
            </a:r>
            <a:endParaRPr lang="en-US" sz="1600" dirty="0"/>
          </a:p>
        </p:txBody>
      </p:sp>
      <p:sp>
        <p:nvSpPr>
          <p:cNvPr id="17" name="Shape 14"/>
          <p:cNvSpPr/>
          <p:nvPr/>
        </p:nvSpPr>
        <p:spPr>
          <a:xfrm>
            <a:off x="4526280" y="1188720"/>
            <a:ext cx="1325880" cy="594360"/>
          </a:xfrm>
          <a:prstGeom prst="roundRect">
            <a:avLst>
              <a:gd name="adj" fmla="val 7692"/>
            </a:avLst>
          </a:prstGeom>
          <a:solidFill>
            <a:srgbClr val="FFFFFF"/>
          </a:solidFill>
          <a:ln w="12700">
            <a:solidFill>
              <a:srgbClr val="D5DBEC"/>
            </a:solidFill>
            <a:prstDash val="solid"/>
          </a:ln>
        </p:spPr>
      </p:sp>
      <p:sp>
        <p:nvSpPr>
          <p:cNvPr id="18" name="Text 15"/>
          <p:cNvSpPr txBox="1"/>
          <p:nvPr/>
        </p:nvSpPr>
        <p:spPr>
          <a:xfrm>
            <a:off x="4617720" y="1234440"/>
            <a:ext cx="1188720" cy="182880"/>
          </a:xfrm>
          <a:prstGeom prst="rect">
            <a:avLst/>
          </a:prstGeom>
          <a:noFill/>
          <a:ln/>
        </p:spPr>
        <p:txBody>
          <a:bodyPr wrap="square" lIns="0" tIns="0" rIns="0" bIns="0" rtlCol="0" anchor="t"/>
          <a:lstStyle/>
          <a:p>
            <a:pPr indent="0" marL="0">
              <a:buNone/>
            </a:pPr>
            <a:r>
              <a:rPr lang="en-US" sz="800" dirty="0">
                <a:solidFill>
                  <a:srgbClr val="5A6483"/>
                </a:solidFill>
              </a:rPr>
              <a:t>Categories</a:t>
            </a:r>
            <a:endParaRPr lang="en-US" sz="800" dirty="0"/>
          </a:p>
        </p:txBody>
      </p:sp>
      <p:sp>
        <p:nvSpPr>
          <p:cNvPr id="19" name="Text 16"/>
          <p:cNvSpPr txBox="1"/>
          <p:nvPr/>
        </p:nvSpPr>
        <p:spPr>
          <a:xfrm>
            <a:off x="4617720" y="1417320"/>
            <a:ext cx="1188720" cy="320040"/>
          </a:xfrm>
          <a:prstGeom prst="rect">
            <a:avLst/>
          </a:prstGeom>
          <a:noFill/>
          <a:ln/>
        </p:spPr>
        <p:txBody>
          <a:bodyPr wrap="square" lIns="0" tIns="0" rIns="0" bIns="0" rtlCol="0" anchor="t"/>
          <a:lstStyle/>
          <a:p>
            <a:pPr indent="0" marL="0">
              <a:buNone/>
            </a:pPr>
            <a:r>
              <a:rPr lang="en-US" sz="1600" b="1" dirty="0">
                <a:solidFill>
                  <a:srgbClr val="0B1530"/>
                </a:solidFill>
              </a:rPr>
              <a:t>4</a:t>
            </a:r>
            <a:endParaRPr lang="en-US" sz="1600" dirty="0"/>
          </a:p>
        </p:txBody>
      </p:sp>
      <p:sp>
        <p:nvSpPr>
          <p:cNvPr id="20" name="Text 17"/>
          <p:cNvSpPr txBox="1"/>
          <p:nvPr/>
        </p:nvSpPr>
        <p:spPr>
          <a:xfrm>
            <a:off x="1600200" y="2039112"/>
            <a:ext cx="1371600" cy="228600"/>
          </a:xfrm>
          <a:prstGeom prst="rect">
            <a:avLst/>
          </a:prstGeom>
          <a:noFill/>
          <a:ln/>
        </p:spPr>
        <p:txBody>
          <a:bodyPr wrap="square" lIns="0" tIns="0" rIns="0" bIns="0" rtlCol="0" anchor="t"/>
          <a:lstStyle/>
          <a:p>
            <a:pPr indent="0" marL="0">
              <a:buNone/>
            </a:pPr>
            <a:r>
              <a:rPr lang="en-US" sz="800" b="1" dirty="0">
                <a:solidFill>
                  <a:srgbClr val="5A6483"/>
                </a:solidFill>
              </a:rPr>
              <a:t>Product</a:t>
            </a:r>
            <a:endParaRPr lang="en-US" sz="800" dirty="0"/>
          </a:p>
        </p:txBody>
      </p:sp>
      <p:sp>
        <p:nvSpPr>
          <p:cNvPr id="21" name="Text 18"/>
          <p:cNvSpPr txBox="1"/>
          <p:nvPr/>
        </p:nvSpPr>
        <p:spPr>
          <a:xfrm>
            <a:off x="3063240" y="2039112"/>
            <a:ext cx="1371600" cy="228600"/>
          </a:xfrm>
          <a:prstGeom prst="rect">
            <a:avLst/>
          </a:prstGeom>
          <a:noFill/>
          <a:ln/>
        </p:spPr>
        <p:txBody>
          <a:bodyPr wrap="square" lIns="0" tIns="0" rIns="0" bIns="0" rtlCol="0" anchor="t"/>
          <a:lstStyle/>
          <a:p>
            <a:pPr indent="0" marL="0">
              <a:buNone/>
            </a:pPr>
            <a:r>
              <a:rPr lang="en-US" sz="800" b="1" dirty="0">
                <a:solidFill>
                  <a:srgbClr val="5A6483"/>
                </a:solidFill>
              </a:rPr>
              <a:t>Category</a:t>
            </a:r>
            <a:endParaRPr lang="en-US" sz="800" dirty="0"/>
          </a:p>
        </p:txBody>
      </p:sp>
      <p:sp>
        <p:nvSpPr>
          <p:cNvPr id="22" name="Text 19"/>
          <p:cNvSpPr txBox="1"/>
          <p:nvPr/>
        </p:nvSpPr>
        <p:spPr>
          <a:xfrm>
            <a:off x="4343400" y="2039112"/>
            <a:ext cx="1371600" cy="228600"/>
          </a:xfrm>
          <a:prstGeom prst="rect">
            <a:avLst/>
          </a:prstGeom>
          <a:noFill/>
          <a:ln/>
        </p:spPr>
        <p:txBody>
          <a:bodyPr wrap="square" lIns="0" tIns="0" rIns="0" bIns="0" rtlCol="0" anchor="t"/>
          <a:lstStyle/>
          <a:p>
            <a:pPr indent="0" marL="0">
              <a:buNone/>
            </a:pPr>
            <a:r>
              <a:rPr lang="en-US" sz="800" b="1" dirty="0">
                <a:solidFill>
                  <a:srgbClr val="5A6483"/>
                </a:solidFill>
              </a:rPr>
              <a:t>Stock</a:t>
            </a:r>
            <a:endParaRPr lang="en-US" sz="800" dirty="0"/>
          </a:p>
        </p:txBody>
      </p:sp>
      <p:sp>
        <p:nvSpPr>
          <p:cNvPr id="23" name="Text 20"/>
          <p:cNvSpPr txBox="1"/>
          <p:nvPr/>
        </p:nvSpPr>
        <p:spPr>
          <a:xfrm>
            <a:off x="4983480" y="2039112"/>
            <a:ext cx="1371600" cy="228600"/>
          </a:xfrm>
          <a:prstGeom prst="rect">
            <a:avLst/>
          </a:prstGeom>
          <a:noFill/>
          <a:ln/>
        </p:spPr>
        <p:txBody>
          <a:bodyPr wrap="square" lIns="0" tIns="0" rIns="0" bIns="0" rtlCol="0" anchor="t"/>
          <a:lstStyle/>
          <a:p>
            <a:pPr indent="0" marL="0">
              <a:buNone/>
            </a:pPr>
            <a:r>
              <a:rPr lang="en-US" sz="800" b="1" dirty="0">
                <a:solidFill>
                  <a:srgbClr val="5A6483"/>
                </a:solidFill>
              </a:rPr>
              <a:t>Status</a:t>
            </a:r>
            <a:endParaRPr lang="en-US" sz="800" dirty="0"/>
          </a:p>
        </p:txBody>
      </p:sp>
      <p:sp>
        <p:nvSpPr>
          <p:cNvPr id="24" name="Shape 21"/>
          <p:cNvSpPr/>
          <p:nvPr/>
        </p:nvSpPr>
        <p:spPr>
          <a:xfrm>
            <a:off x="1600200" y="2331720"/>
            <a:ext cx="4297680" cy="0"/>
          </a:xfrm>
          <a:prstGeom prst="line">
            <a:avLst/>
          </a:prstGeom>
          <a:noFill/>
          <a:ln w="9525">
            <a:solidFill>
              <a:srgbClr val="D5DBEC"/>
            </a:solidFill>
            <a:prstDash val="solid"/>
          </a:ln>
        </p:spPr>
      </p:sp>
      <p:sp>
        <p:nvSpPr>
          <p:cNvPr id="25" name="Text 22"/>
          <p:cNvSpPr txBox="1"/>
          <p:nvPr/>
        </p:nvSpPr>
        <p:spPr>
          <a:xfrm>
            <a:off x="1600200" y="2404872"/>
            <a:ext cx="1371600" cy="228600"/>
          </a:xfrm>
          <a:prstGeom prst="rect">
            <a:avLst/>
          </a:prstGeom>
          <a:noFill/>
          <a:ln/>
        </p:spPr>
        <p:txBody>
          <a:bodyPr wrap="square" lIns="0" tIns="0" rIns="0" bIns="0" rtlCol="0" anchor="t"/>
          <a:lstStyle/>
          <a:p>
            <a:pPr indent="0" marL="0">
              <a:buNone/>
            </a:pPr>
            <a:r>
              <a:rPr lang="en-US" sz="900" dirty="0">
                <a:solidFill>
                  <a:srgbClr val="0B1530"/>
                </a:solidFill>
              </a:rPr>
              <a:t>Wireless Mouse</a:t>
            </a:r>
            <a:endParaRPr lang="en-US" sz="900" dirty="0"/>
          </a:p>
        </p:txBody>
      </p:sp>
      <p:sp>
        <p:nvSpPr>
          <p:cNvPr id="26" name="Text 23"/>
          <p:cNvSpPr txBox="1"/>
          <p:nvPr/>
        </p:nvSpPr>
        <p:spPr>
          <a:xfrm>
            <a:off x="3063240" y="2404872"/>
            <a:ext cx="1371600" cy="228600"/>
          </a:xfrm>
          <a:prstGeom prst="rect">
            <a:avLst/>
          </a:prstGeom>
          <a:noFill/>
          <a:ln/>
        </p:spPr>
        <p:txBody>
          <a:bodyPr wrap="square" lIns="0" tIns="0" rIns="0" bIns="0" rtlCol="0" anchor="t"/>
          <a:lstStyle/>
          <a:p>
            <a:pPr indent="0" marL="0">
              <a:buNone/>
            </a:pPr>
            <a:r>
              <a:rPr lang="en-US" sz="900" dirty="0">
                <a:solidFill>
                  <a:srgbClr val="0B1530"/>
                </a:solidFill>
              </a:rPr>
              <a:t>Electronics</a:t>
            </a:r>
            <a:endParaRPr lang="en-US" sz="900" dirty="0"/>
          </a:p>
        </p:txBody>
      </p:sp>
      <p:sp>
        <p:nvSpPr>
          <p:cNvPr id="27" name="Text 24"/>
          <p:cNvSpPr txBox="1"/>
          <p:nvPr/>
        </p:nvSpPr>
        <p:spPr>
          <a:xfrm>
            <a:off x="4343400" y="2404872"/>
            <a:ext cx="1371600" cy="228600"/>
          </a:xfrm>
          <a:prstGeom prst="rect">
            <a:avLst/>
          </a:prstGeom>
          <a:noFill/>
          <a:ln/>
        </p:spPr>
        <p:txBody>
          <a:bodyPr wrap="square" lIns="0" tIns="0" rIns="0" bIns="0" rtlCol="0" anchor="t"/>
          <a:lstStyle/>
          <a:p>
            <a:pPr indent="0" marL="0">
              <a:buNone/>
            </a:pPr>
            <a:r>
              <a:rPr lang="en-US" sz="900" dirty="0">
                <a:solidFill>
                  <a:srgbClr val="0B1530"/>
                </a:solidFill>
              </a:rPr>
              <a:t>52</a:t>
            </a:r>
            <a:endParaRPr lang="en-US" sz="900" dirty="0"/>
          </a:p>
        </p:txBody>
      </p:sp>
      <p:sp>
        <p:nvSpPr>
          <p:cNvPr id="28" name="Shape 25"/>
          <p:cNvSpPr/>
          <p:nvPr/>
        </p:nvSpPr>
        <p:spPr>
          <a:xfrm>
            <a:off x="4983480" y="2404872"/>
            <a:ext cx="731520" cy="201168"/>
          </a:xfrm>
          <a:prstGeom prst="roundRect">
            <a:avLst>
              <a:gd name="adj" fmla="val 45455"/>
            </a:avLst>
          </a:prstGeom>
          <a:solidFill>
            <a:srgbClr val="C9F5EC"/>
          </a:solidFill>
          <a:ln w="12700">
            <a:solidFill>
              <a:srgbClr val="C9F5EC"/>
            </a:solidFill>
            <a:prstDash val="solid"/>
          </a:ln>
        </p:spPr>
      </p:sp>
      <p:sp>
        <p:nvSpPr>
          <p:cNvPr id="29" name="Text 26"/>
          <p:cNvSpPr txBox="1"/>
          <p:nvPr/>
        </p:nvSpPr>
        <p:spPr>
          <a:xfrm>
            <a:off x="4983480" y="2404872"/>
            <a:ext cx="731520" cy="201168"/>
          </a:xfrm>
          <a:prstGeom prst="rect">
            <a:avLst/>
          </a:prstGeom>
          <a:noFill/>
          <a:ln/>
        </p:spPr>
        <p:txBody>
          <a:bodyPr wrap="square" lIns="0" tIns="0" rIns="0" bIns="0" rtlCol="0" anchor="ctr"/>
          <a:lstStyle/>
          <a:p>
            <a:pPr algn="ctr" indent="0" marL="0">
              <a:buNone/>
            </a:pPr>
            <a:r>
              <a:rPr lang="en-US" sz="800" b="1" dirty="0">
                <a:solidFill>
                  <a:srgbClr val="0B6B5C"/>
                </a:solidFill>
              </a:rPr>
              <a:t>In stock</a:t>
            </a:r>
            <a:endParaRPr lang="en-US" sz="800" dirty="0"/>
          </a:p>
        </p:txBody>
      </p:sp>
      <p:sp>
        <p:nvSpPr>
          <p:cNvPr id="30" name="Shape 27"/>
          <p:cNvSpPr/>
          <p:nvPr/>
        </p:nvSpPr>
        <p:spPr>
          <a:xfrm>
            <a:off x="1600200" y="2697480"/>
            <a:ext cx="4297680" cy="0"/>
          </a:xfrm>
          <a:prstGeom prst="line">
            <a:avLst/>
          </a:prstGeom>
          <a:noFill/>
          <a:ln w="9525">
            <a:solidFill>
              <a:srgbClr val="D5DBEC"/>
            </a:solidFill>
            <a:prstDash val="solid"/>
          </a:ln>
        </p:spPr>
      </p:sp>
      <p:sp>
        <p:nvSpPr>
          <p:cNvPr id="31" name="Text 28"/>
          <p:cNvSpPr txBox="1"/>
          <p:nvPr/>
        </p:nvSpPr>
        <p:spPr>
          <a:xfrm>
            <a:off x="1600200" y="2770632"/>
            <a:ext cx="1371600" cy="228600"/>
          </a:xfrm>
          <a:prstGeom prst="rect">
            <a:avLst/>
          </a:prstGeom>
          <a:noFill/>
          <a:ln/>
        </p:spPr>
        <p:txBody>
          <a:bodyPr wrap="square" lIns="0" tIns="0" rIns="0" bIns="0" rtlCol="0" anchor="t"/>
          <a:lstStyle/>
          <a:p>
            <a:pPr indent="0" marL="0">
              <a:buNone/>
            </a:pPr>
            <a:r>
              <a:rPr lang="en-US" sz="900" dirty="0">
                <a:solidFill>
                  <a:srgbClr val="0B1530"/>
                </a:solidFill>
              </a:rPr>
              <a:t>Keyboard</a:t>
            </a:r>
            <a:endParaRPr lang="en-US" sz="900" dirty="0"/>
          </a:p>
        </p:txBody>
      </p:sp>
      <p:sp>
        <p:nvSpPr>
          <p:cNvPr id="32" name="Text 29"/>
          <p:cNvSpPr txBox="1"/>
          <p:nvPr/>
        </p:nvSpPr>
        <p:spPr>
          <a:xfrm>
            <a:off x="3063240" y="2770632"/>
            <a:ext cx="1371600" cy="228600"/>
          </a:xfrm>
          <a:prstGeom prst="rect">
            <a:avLst/>
          </a:prstGeom>
          <a:noFill/>
          <a:ln/>
        </p:spPr>
        <p:txBody>
          <a:bodyPr wrap="square" lIns="0" tIns="0" rIns="0" bIns="0" rtlCol="0" anchor="t"/>
          <a:lstStyle/>
          <a:p>
            <a:pPr indent="0" marL="0">
              <a:buNone/>
            </a:pPr>
            <a:r>
              <a:rPr lang="en-US" sz="900" dirty="0">
                <a:solidFill>
                  <a:srgbClr val="0B1530"/>
                </a:solidFill>
              </a:rPr>
              <a:t>Electronics</a:t>
            </a:r>
            <a:endParaRPr lang="en-US" sz="900" dirty="0"/>
          </a:p>
        </p:txBody>
      </p:sp>
      <p:sp>
        <p:nvSpPr>
          <p:cNvPr id="33" name="Text 30"/>
          <p:cNvSpPr txBox="1"/>
          <p:nvPr/>
        </p:nvSpPr>
        <p:spPr>
          <a:xfrm>
            <a:off x="4343400" y="2770632"/>
            <a:ext cx="1371600" cy="228600"/>
          </a:xfrm>
          <a:prstGeom prst="rect">
            <a:avLst/>
          </a:prstGeom>
          <a:noFill/>
          <a:ln/>
        </p:spPr>
        <p:txBody>
          <a:bodyPr wrap="square" lIns="0" tIns="0" rIns="0" bIns="0" rtlCol="0" anchor="t"/>
          <a:lstStyle/>
          <a:p>
            <a:pPr indent="0" marL="0">
              <a:buNone/>
            </a:pPr>
            <a:r>
              <a:rPr lang="en-US" sz="900" dirty="0">
                <a:solidFill>
                  <a:srgbClr val="0B1530"/>
                </a:solidFill>
              </a:rPr>
              <a:t>30</a:t>
            </a:r>
            <a:endParaRPr lang="en-US" sz="900" dirty="0"/>
          </a:p>
        </p:txBody>
      </p:sp>
      <p:sp>
        <p:nvSpPr>
          <p:cNvPr id="34" name="Shape 31"/>
          <p:cNvSpPr/>
          <p:nvPr/>
        </p:nvSpPr>
        <p:spPr>
          <a:xfrm>
            <a:off x="4983480" y="2770632"/>
            <a:ext cx="731520" cy="201168"/>
          </a:xfrm>
          <a:prstGeom prst="roundRect">
            <a:avLst>
              <a:gd name="adj" fmla="val 45455"/>
            </a:avLst>
          </a:prstGeom>
          <a:solidFill>
            <a:srgbClr val="C9F5EC"/>
          </a:solidFill>
          <a:ln w="12700">
            <a:solidFill>
              <a:srgbClr val="C9F5EC"/>
            </a:solidFill>
            <a:prstDash val="solid"/>
          </a:ln>
        </p:spPr>
      </p:sp>
      <p:sp>
        <p:nvSpPr>
          <p:cNvPr id="35" name="Text 32"/>
          <p:cNvSpPr txBox="1"/>
          <p:nvPr/>
        </p:nvSpPr>
        <p:spPr>
          <a:xfrm>
            <a:off x="4983480" y="2770632"/>
            <a:ext cx="731520" cy="201168"/>
          </a:xfrm>
          <a:prstGeom prst="rect">
            <a:avLst/>
          </a:prstGeom>
          <a:noFill/>
          <a:ln/>
        </p:spPr>
        <p:txBody>
          <a:bodyPr wrap="square" lIns="0" tIns="0" rIns="0" bIns="0" rtlCol="0" anchor="ctr"/>
          <a:lstStyle/>
          <a:p>
            <a:pPr algn="ctr" indent="0" marL="0">
              <a:buNone/>
            </a:pPr>
            <a:r>
              <a:rPr lang="en-US" sz="800" b="1" dirty="0">
                <a:solidFill>
                  <a:srgbClr val="0B6B5C"/>
                </a:solidFill>
              </a:rPr>
              <a:t>In stock</a:t>
            </a:r>
            <a:endParaRPr lang="en-US" sz="800" dirty="0"/>
          </a:p>
        </p:txBody>
      </p:sp>
      <p:sp>
        <p:nvSpPr>
          <p:cNvPr id="36" name="Shape 33"/>
          <p:cNvSpPr/>
          <p:nvPr/>
        </p:nvSpPr>
        <p:spPr>
          <a:xfrm>
            <a:off x="1600200" y="3063240"/>
            <a:ext cx="4297680" cy="0"/>
          </a:xfrm>
          <a:prstGeom prst="line">
            <a:avLst/>
          </a:prstGeom>
          <a:noFill/>
          <a:ln w="9525">
            <a:solidFill>
              <a:srgbClr val="D5DBEC"/>
            </a:solidFill>
            <a:prstDash val="solid"/>
          </a:ln>
        </p:spPr>
      </p:sp>
      <p:sp>
        <p:nvSpPr>
          <p:cNvPr id="37" name="Text 34"/>
          <p:cNvSpPr txBox="1"/>
          <p:nvPr/>
        </p:nvSpPr>
        <p:spPr>
          <a:xfrm>
            <a:off x="1600200" y="3136392"/>
            <a:ext cx="1371600" cy="228600"/>
          </a:xfrm>
          <a:prstGeom prst="rect">
            <a:avLst/>
          </a:prstGeom>
          <a:noFill/>
          <a:ln/>
        </p:spPr>
        <p:txBody>
          <a:bodyPr wrap="square" lIns="0" tIns="0" rIns="0" bIns="0" rtlCol="0" anchor="t"/>
          <a:lstStyle/>
          <a:p>
            <a:pPr indent="0" marL="0">
              <a:buNone/>
            </a:pPr>
            <a:r>
              <a:rPr lang="en-US" sz="900" dirty="0">
                <a:solidFill>
                  <a:srgbClr val="0B1530"/>
                </a:solidFill>
              </a:rPr>
              <a:t>Notebook</a:t>
            </a:r>
            <a:endParaRPr lang="en-US" sz="900" dirty="0"/>
          </a:p>
        </p:txBody>
      </p:sp>
      <p:sp>
        <p:nvSpPr>
          <p:cNvPr id="38" name="Text 35"/>
          <p:cNvSpPr txBox="1"/>
          <p:nvPr/>
        </p:nvSpPr>
        <p:spPr>
          <a:xfrm>
            <a:off x="3063240" y="3136392"/>
            <a:ext cx="1371600" cy="228600"/>
          </a:xfrm>
          <a:prstGeom prst="rect">
            <a:avLst/>
          </a:prstGeom>
          <a:noFill/>
          <a:ln/>
        </p:spPr>
        <p:txBody>
          <a:bodyPr wrap="square" lIns="0" tIns="0" rIns="0" bIns="0" rtlCol="0" anchor="t"/>
          <a:lstStyle/>
          <a:p>
            <a:pPr indent="0" marL="0">
              <a:buNone/>
            </a:pPr>
            <a:r>
              <a:rPr lang="en-US" sz="900" dirty="0">
                <a:solidFill>
                  <a:srgbClr val="0B1530"/>
                </a:solidFill>
              </a:rPr>
              <a:t>Stationery</a:t>
            </a:r>
            <a:endParaRPr lang="en-US" sz="900" dirty="0"/>
          </a:p>
        </p:txBody>
      </p:sp>
      <p:sp>
        <p:nvSpPr>
          <p:cNvPr id="39" name="Text 36"/>
          <p:cNvSpPr txBox="1"/>
          <p:nvPr/>
        </p:nvSpPr>
        <p:spPr>
          <a:xfrm>
            <a:off x="4343400" y="3136392"/>
            <a:ext cx="1371600" cy="228600"/>
          </a:xfrm>
          <a:prstGeom prst="rect">
            <a:avLst/>
          </a:prstGeom>
          <a:noFill/>
          <a:ln/>
        </p:spPr>
        <p:txBody>
          <a:bodyPr wrap="square" lIns="0" tIns="0" rIns="0" bIns="0" rtlCol="0" anchor="t"/>
          <a:lstStyle/>
          <a:p>
            <a:pPr indent="0" marL="0">
              <a:buNone/>
            </a:pPr>
            <a:r>
              <a:rPr lang="en-US" sz="900" dirty="0">
                <a:solidFill>
                  <a:srgbClr val="0B1530"/>
                </a:solidFill>
              </a:rPr>
              <a:t>15</a:t>
            </a:r>
            <a:endParaRPr lang="en-US" sz="900" dirty="0"/>
          </a:p>
        </p:txBody>
      </p:sp>
      <p:sp>
        <p:nvSpPr>
          <p:cNvPr id="40" name="Shape 37"/>
          <p:cNvSpPr/>
          <p:nvPr/>
        </p:nvSpPr>
        <p:spPr>
          <a:xfrm>
            <a:off x="4983480" y="3136392"/>
            <a:ext cx="731520" cy="201168"/>
          </a:xfrm>
          <a:prstGeom prst="roundRect">
            <a:avLst>
              <a:gd name="adj" fmla="val 45455"/>
            </a:avLst>
          </a:prstGeom>
          <a:solidFill>
            <a:srgbClr val="FDE7C2"/>
          </a:solidFill>
          <a:ln w="12700">
            <a:solidFill>
              <a:srgbClr val="FDE7C2"/>
            </a:solidFill>
            <a:prstDash val="solid"/>
          </a:ln>
        </p:spPr>
      </p:sp>
      <p:sp>
        <p:nvSpPr>
          <p:cNvPr id="41" name="Text 38"/>
          <p:cNvSpPr txBox="1"/>
          <p:nvPr/>
        </p:nvSpPr>
        <p:spPr>
          <a:xfrm>
            <a:off x="4983480" y="3136392"/>
            <a:ext cx="731520" cy="201168"/>
          </a:xfrm>
          <a:prstGeom prst="rect">
            <a:avLst/>
          </a:prstGeom>
          <a:noFill/>
          <a:ln/>
        </p:spPr>
        <p:txBody>
          <a:bodyPr wrap="square" lIns="0" tIns="0" rIns="0" bIns="0" rtlCol="0" anchor="ctr"/>
          <a:lstStyle/>
          <a:p>
            <a:pPr algn="ctr" indent="0" marL="0">
              <a:buNone/>
            </a:pPr>
            <a:r>
              <a:rPr lang="en-US" sz="800" b="1" dirty="0">
                <a:solidFill>
                  <a:srgbClr val="8A5A00"/>
                </a:solidFill>
              </a:rPr>
              <a:t>Low</a:t>
            </a:r>
            <a:endParaRPr lang="en-US" sz="800" dirty="0"/>
          </a:p>
        </p:txBody>
      </p:sp>
      <p:sp>
        <p:nvSpPr>
          <p:cNvPr id="42" name="Shape 39"/>
          <p:cNvSpPr/>
          <p:nvPr/>
        </p:nvSpPr>
        <p:spPr>
          <a:xfrm>
            <a:off x="1600200" y="3429000"/>
            <a:ext cx="4297680" cy="0"/>
          </a:xfrm>
          <a:prstGeom prst="line">
            <a:avLst/>
          </a:prstGeom>
          <a:noFill/>
          <a:ln w="9525">
            <a:solidFill>
              <a:srgbClr val="D5DBEC"/>
            </a:solidFill>
            <a:prstDash val="solid"/>
          </a:ln>
        </p:spPr>
      </p:sp>
      <p:sp>
        <p:nvSpPr>
          <p:cNvPr id="43" name="Text 40"/>
          <p:cNvSpPr txBox="1"/>
          <p:nvPr/>
        </p:nvSpPr>
        <p:spPr>
          <a:xfrm>
            <a:off x="1600200" y="3502152"/>
            <a:ext cx="1371600" cy="228600"/>
          </a:xfrm>
          <a:prstGeom prst="rect">
            <a:avLst/>
          </a:prstGeom>
          <a:noFill/>
          <a:ln/>
        </p:spPr>
        <p:txBody>
          <a:bodyPr wrap="square" lIns="0" tIns="0" rIns="0" bIns="0" rtlCol="0" anchor="t"/>
          <a:lstStyle/>
          <a:p>
            <a:pPr indent="0" marL="0">
              <a:buNone/>
            </a:pPr>
            <a:r>
              <a:rPr lang="en-US" sz="900" dirty="0">
                <a:solidFill>
                  <a:srgbClr val="0B1530"/>
                </a:solidFill>
              </a:rPr>
              <a:t>Office Chair</a:t>
            </a:r>
            <a:endParaRPr lang="en-US" sz="900" dirty="0"/>
          </a:p>
        </p:txBody>
      </p:sp>
      <p:sp>
        <p:nvSpPr>
          <p:cNvPr id="44" name="Text 41"/>
          <p:cNvSpPr txBox="1"/>
          <p:nvPr/>
        </p:nvSpPr>
        <p:spPr>
          <a:xfrm>
            <a:off x="3063240" y="3502152"/>
            <a:ext cx="1371600" cy="228600"/>
          </a:xfrm>
          <a:prstGeom prst="rect">
            <a:avLst/>
          </a:prstGeom>
          <a:noFill/>
          <a:ln/>
        </p:spPr>
        <p:txBody>
          <a:bodyPr wrap="square" lIns="0" tIns="0" rIns="0" bIns="0" rtlCol="0" anchor="t"/>
          <a:lstStyle/>
          <a:p>
            <a:pPr indent="0" marL="0">
              <a:buNone/>
            </a:pPr>
            <a:r>
              <a:rPr lang="en-US" sz="900" dirty="0">
                <a:solidFill>
                  <a:srgbClr val="0B1530"/>
                </a:solidFill>
              </a:rPr>
              <a:t>Furniture</a:t>
            </a:r>
            <a:endParaRPr lang="en-US" sz="900" dirty="0"/>
          </a:p>
        </p:txBody>
      </p:sp>
      <p:sp>
        <p:nvSpPr>
          <p:cNvPr id="45" name="Text 42"/>
          <p:cNvSpPr txBox="1"/>
          <p:nvPr/>
        </p:nvSpPr>
        <p:spPr>
          <a:xfrm>
            <a:off x="4343400" y="3502152"/>
            <a:ext cx="1371600" cy="228600"/>
          </a:xfrm>
          <a:prstGeom prst="rect">
            <a:avLst/>
          </a:prstGeom>
          <a:noFill/>
          <a:ln/>
        </p:spPr>
        <p:txBody>
          <a:bodyPr wrap="square" lIns="0" tIns="0" rIns="0" bIns="0" rtlCol="0" anchor="t"/>
          <a:lstStyle/>
          <a:p>
            <a:pPr indent="0" marL="0">
              <a:buNone/>
            </a:pPr>
            <a:r>
              <a:rPr lang="en-US" sz="900" dirty="0">
                <a:solidFill>
                  <a:srgbClr val="0B1530"/>
                </a:solidFill>
              </a:rPr>
              <a:t>10</a:t>
            </a:r>
            <a:endParaRPr lang="en-US" sz="900" dirty="0"/>
          </a:p>
        </p:txBody>
      </p:sp>
      <p:sp>
        <p:nvSpPr>
          <p:cNvPr id="46" name="Shape 43"/>
          <p:cNvSpPr/>
          <p:nvPr/>
        </p:nvSpPr>
        <p:spPr>
          <a:xfrm>
            <a:off x="4983480" y="3502152"/>
            <a:ext cx="731520" cy="201168"/>
          </a:xfrm>
          <a:prstGeom prst="roundRect">
            <a:avLst>
              <a:gd name="adj" fmla="val 45455"/>
            </a:avLst>
          </a:prstGeom>
          <a:solidFill>
            <a:srgbClr val="FDE7C2"/>
          </a:solidFill>
          <a:ln w="12700">
            <a:solidFill>
              <a:srgbClr val="FDE7C2"/>
            </a:solidFill>
            <a:prstDash val="solid"/>
          </a:ln>
        </p:spPr>
      </p:sp>
      <p:sp>
        <p:nvSpPr>
          <p:cNvPr id="47" name="Text 44"/>
          <p:cNvSpPr txBox="1"/>
          <p:nvPr/>
        </p:nvSpPr>
        <p:spPr>
          <a:xfrm>
            <a:off x="4983480" y="3502152"/>
            <a:ext cx="731520" cy="201168"/>
          </a:xfrm>
          <a:prstGeom prst="rect">
            <a:avLst/>
          </a:prstGeom>
          <a:noFill/>
          <a:ln/>
        </p:spPr>
        <p:txBody>
          <a:bodyPr wrap="square" lIns="0" tIns="0" rIns="0" bIns="0" rtlCol="0" anchor="ctr"/>
          <a:lstStyle/>
          <a:p>
            <a:pPr algn="ctr" indent="0" marL="0">
              <a:buNone/>
            </a:pPr>
            <a:r>
              <a:rPr lang="en-US" sz="800" b="1" dirty="0">
                <a:solidFill>
                  <a:srgbClr val="8A5A00"/>
                </a:solidFill>
              </a:rPr>
              <a:t>Low</a:t>
            </a:r>
            <a:endParaRPr lang="en-US" sz="800" dirty="0"/>
          </a:p>
        </p:txBody>
      </p:sp>
      <p:sp>
        <p:nvSpPr>
          <p:cNvPr id="48" name="Shape 45"/>
          <p:cNvSpPr/>
          <p:nvPr/>
        </p:nvSpPr>
        <p:spPr>
          <a:xfrm>
            <a:off x="1600200" y="3794760"/>
            <a:ext cx="4297680" cy="0"/>
          </a:xfrm>
          <a:prstGeom prst="line">
            <a:avLst/>
          </a:prstGeom>
          <a:noFill/>
          <a:ln w="9525">
            <a:solidFill>
              <a:srgbClr val="D5DBEC"/>
            </a:solidFill>
            <a:prstDash val="solid"/>
          </a:ln>
        </p:spPr>
      </p:sp>
      <p:sp>
        <p:nvSpPr>
          <p:cNvPr id="49" name="Text 46"/>
          <p:cNvSpPr txBox="1"/>
          <p:nvPr/>
        </p:nvSpPr>
        <p:spPr>
          <a:xfrm>
            <a:off x="1600200" y="3867912"/>
            <a:ext cx="1371600" cy="228600"/>
          </a:xfrm>
          <a:prstGeom prst="rect">
            <a:avLst/>
          </a:prstGeom>
          <a:noFill/>
          <a:ln/>
        </p:spPr>
        <p:txBody>
          <a:bodyPr wrap="square" lIns="0" tIns="0" rIns="0" bIns="0" rtlCol="0" anchor="t"/>
          <a:lstStyle/>
          <a:p>
            <a:pPr indent="0" marL="0">
              <a:buNone/>
            </a:pPr>
            <a:r>
              <a:rPr lang="en-US" sz="900" dirty="0">
                <a:solidFill>
                  <a:srgbClr val="0B1530"/>
                </a:solidFill>
              </a:rPr>
              <a:t>USB Cable</a:t>
            </a:r>
            <a:endParaRPr lang="en-US" sz="900" dirty="0"/>
          </a:p>
        </p:txBody>
      </p:sp>
      <p:sp>
        <p:nvSpPr>
          <p:cNvPr id="50" name="Text 47"/>
          <p:cNvSpPr txBox="1"/>
          <p:nvPr/>
        </p:nvSpPr>
        <p:spPr>
          <a:xfrm>
            <a:off x="3063240" y="3867912"/>
            <a:ext cx="1371600" cy="228600"/>
          </a:xfrm>
          <a:prstGeom prst="rect">
            <a:avLst/>
          </a:prstGeom>
          <a:noFill/>
          <a:ln/>
        </p:spPr>
        <p:txBody>
          <a:bodyPr wrap="square" lIns="0" tIns="0" rIns="0" bIns="0" rtlCol="0" anchor="t"/>
          <a:lstStyle/>
          <a:p>
            <a:pPr indent="0" marL="0">
              <a:buNone/>
            </a:pPr>
            <a:r>
              <a:rPr lang="en-US" sz="900" dirty="0">
                <a:solidFill>
                  <a:srgbClr val="0B1530"/>
                </a:solidFill>
              </a:rPr>
              <a:t>Accessories</a:t>
            </a:r>
            <a:endParaRPr lang="en-US" sz="900" dirty="0"/>
          </a:p>
        </p:txBody>
      </p:sp>
      <p:sp>
        <p:nvSpPr>
          <p:cNvPr id="51" name="Text 48"/>
          <p:cNvSpPr txBox="1"/>
          <p:nvPr/>
        </p:nvSpPr>
        <p:spPr>
          <a:xfrm>
            <a:off x="4343400" y="3867912"/>
            <a:ext cx="1371600" cy="228600"/>
          </a:xfrm>
          <a:prstGeom prst="rect">
            <a:avLst/>
          </a:prstGeom>
          <a:noFill/>
          <a:ln/>
        </p:spPr>
        <p:txBody>
          <a:bodyPr wrap="square" lIns="0" tIns="0" rIns="0" bIns="0" rtlCol="0" anchor="t"/>
          <a:lstStyle/>
          <a:p>
            <a:pPr indent="0" marL="0">
              <a:buNone/>
            </a:pPr>
            <a:r>
              <a:rPr lang="en-US" sz="900" dirty="0">
                <a:solidFill>
                  <a:srgbClr val="0B1530"/>
                </a:solidFill>
              </a:rPr>
              <a:t>40</a:t>
            </a:r>
            <a:endParaRPr lang="en-US" sz="900" dirty="0"/>
          </a:p>
        </p:txBody>
      </p:sp>
      <p:sp>
        <p:nvSpPr>
          <p:cNvPr id="52" name="Shape 49"/>
          <p:cNvSpPr/>
          <p:nvPr/>
        </p:nvSpPr>
        <p:spPr>
          <a:xfrm>
            <a:off x="4983480" y="3867912"/>
            <a:ext cx="731520" cy="201168"/>
          </a:xfrm>
          <a:prstGeom prst="roundRect">
            <a:avLst>
              <a:gd name="adj" fmla="val 45455"/>
            </a:avLst>
          </a:prstGeom>
          <a:solidFill>
            <a:srgbClr val="C9F5EC"/>
          </a:solidFill>
          <a:ln w="12700">
            <a:solidFill>
              <a:srgbClr val="C9F5EC"/>
            </a:solidFill>
            <a:prstDash val="solid"/>
          </a:ln>
        </p:spPr>
      </p:sp>
      <p:sp>
        <p:nvSpPr>
          <p:cNvPr id="53" name="Text 50"/>
          <p:cNvSpPr txBox="1"/>
          <p:nvPr/>
        </p:nvSpPr>
        <p:spPr>
          <a:xfrm>
            <a:off x="4983480" y="3867912"/>
            <a:ext cx="731520" cy="201168"/>
          </a:xfrm>
          <a:prstGeom prst="rect">
            <a:avLst/>
          </a:prstGeom>
          <a:noFill/>
          <a:ln/>
        </p:spPr>
        <p:txBody>
          <a:bodyPr wrap="square" lIns="0" tIns="0" rIns="0" bIns="0" rtlCol="0" anchor="ctr"/>
          <a:lstStyle/>
          <a:p>
            <a:pPr algn="ctr" indent="0" marL="0">
              <a:buNone/>
            </a:pPr>
            <a:r>
              <a:rPr lang="en-US" sz="800" b="1" dirty="0">
                <a:solidFill>
                  <a:srgbClr val="0B6B5C"/>
                </a:solidFill>
              </a:rPr>
              <a:t>In stock</a:t>
            </a:r>
            <a:endParaRPr lang="en-US" sz="800" dirty="0"/>
          </a:p>
        </p:txBody>
      </p:sp>
      <p:sp>
        <p:nvSpPr>
          <p:cNvPr id="54" name="Shape 51"/>
          <p:cNvSpPr/>
          <p:nvPr/>
        </p:nvSpPr>
        <p:spPr>
          <a:xfrm>
            <a:off x="6217920" y="1051560"/>
            <a:ext cx="2468880" cy="2377440"/>
          </a:xfrm>
          <a:prstGeom prst="roundRect">
            <a:avLst>
              <a:gd name="adj" fmla="val 3077"/>
            </a:avLst>
          </a:prstGeom>
          <a:solidFill>
            <a:srgbClr val="15204A"/>
          </a:solidFill>
          <a:ln w="12700">
            <a:solidFill>
              <a:srgbClr val="2A3768"/>
            </a:solidFill>
            <a:prstDash val="solid"/>
          </a:ln>
        </p:spPr>
      </p:sp>
      <p:sp>
        <p:nvSpPr>
          <p:cNvPr id="55" name="Text 52"/>
          <p:cNvSpPr txBox="1"/>
          <p:nvPr/>
        </p:nvSpPr>
        <p:spPr>
          <a:xfrm>
            <a:off x="6400800" y="1143000"/>
            <a:ext cx="2194560" cy="274320"/>
          </a:xfrm>
          <a:prstGeom prst="rect">
            <a:avLst/>
          </a:prstGeom>
          <a:noFill/>
          <a:ln/>
        </p:spPr>
        <p:txBody>
          <a:bodyPr wrap="square" lIns="0" tIns="0" rIns="0" bIns="0" rtlCol="0" anchor="t"/>
          <a:lstStyle/>
          <a:p>
            <a:pPr indent="0" marL="0">
              <a:buNone/>
            </a:pPr>
            <a:r>
              <a:rPr lang="en-US" sz="1200" b="1" dirty="0">
                <a:solidFill>
                  <a:srgbClr val="2DD4BF"/>
                </a:solidFill>
              </a:rPr>
              <a:t>Features in browser</a:t>
            </a:r>
            <a:endParaRPr lang="en-US" sz="1200" dirty="0"/>
          </a:p>
        </p:txBody>
      </p:sp>
      <p:sp>
        <p:nvSpPr>
          <p:cNvPr id="56" name="Text 53"/>
          <p:cNvSpPr txBox="1"/>
          <p:nvPr/>
        </p:nvSpPr>
        <p:spPr>
          <a:xfrm>
            <a:off x="6400800" y="1463040"/>
            <a:ext cx="2194560" cy="19202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FFFFFF"/>
                </a:solidFill>
              </a:rPr>
              <a:t>Search and filters</a:t>
            </a:r>
            <a:endParaRPr lang="en-US" sz="1000" dirty="0"/>
          </a:p>
          <a:p>
            <a:pPr marL="342900" indent="-342900">
              <a:spcAft>
                <a:spcPts val="500"/>
              </a:spcAft>
              <a:buSzPct val="100000"/>
              <a:buChar char="•"/>
            </a:pPr>
            <a:r>
              <a:rPr lang="en-US" sz="1000" dirty="0">
                <a:solidFill>
                  <a:srgbClr val="FFFFFF"/>
                </a:solidFill>
              </a:rPr>
              <a:t>Add / edit / delete products</a:t>
            </a:r>
            <a:endParaRPr lang="en-US" sz="1000" dirty="0"/>
          </a:p>
          <a:p>
            <a:pPr marL="342900" indent="-342900">
              <a:spcAft>
                <a:spcPts val="500"/>
              </a:spcAft>
              <a:buSzPct val="100000"/>
              <a:buChar char="•"/>
            </a:pPr>
            <a:r>
              <a:rPr lang="en-US" sz="1000" dirty="0">
                <a:solidFill>
                  <a:srgbClr val="FFFFFF"/>
                </a:solidFill>
              </a:rPr>
              <a:t>Stock-in and stock-out</a:t>
            </a:r>
            <a:endParaRPr lang="en-US" sz="1000" dirty="0"/>
          </a:p>
          <a:p>
            <a:pPr marL="342900" indent="-342900">
              <a:spcAft>
                <a:spcPts val="500"/>
              </a:spcAft>
              <a:buSzPct val="100000"/>
              <a:buChar char="•"/>
            </a:pPr>
            <a:r>
              <a:rPr lang="en-US" sz="1000" dirty="0">
                <a:solidFill>
                  <a:srgbClr val="FFFFFF"/>
                </a:solidFill>
              </a:rPr>
              <a:t>Category and supplier management</a:t>
            </a:r>
            <a:endParaRPr lang="en-US" sz="1000" dirty="0"/>
          </a:p>
          <a:p>
            <a:pPr marL="342900" indent="-342900">
              <a:spcAft>
                <a:spcPts val="500"/>
              </a:spcAft>
              <a:buSzPct val="100000"/>
              <a:buChar char="•"/>
            </a:pPr>
            <a:r>
              <a:rPr lang="en-US" sz="1000" dirty="0">
                <a:solidFill>
                  <a:srgbClr val="FFFFFF"/>
                </a:solidFill>
              </a:rPr>
              <a:t>Low-stock reporting</a:t>
            </a:r>
            <a:endParaRPr lang="en-US" sz="1000" dirty="0"/>
          </a:p>
          <a:p>
            <a:pPr marL="342900" indent="-342900">
              <a:spcAft>
                <a:spcPts val="500"/>
              </a:spcAft>
              <a:buSzPct val="100000"/>
              <a:buChar char="•"/>
            </a:pPr>
            <a:r>
              <a:rPr lang="en-US" sz="1000" dirty="0">
                <a:solidFill>
                  <a:srgbClr val="FFFFFF"/>
                </a:solidFill>
              </a:rPr>
              <a:t>CSV export</a:t>
            </a:r>
            <a:endParaRPr lang="en-US" sz="1000" dirty="0"/>
          </a:p>
        </p:txBody>
      </p:sp>
      <p:sp>
        <p:nvSpPr>
          <p:cNvPr id="57" name="Shape 54"/>
          <p:cNvSpPr/>
          <p:nvPr/>
        </p:nvSpPr>
        <p:spPr>
          <a:xfrm>
            <a:off x="6217920" y="3566160"/>
            <a:ext cx="2468880" cy="1005840"/>
          </a:xfrm>
          <a:prstGeom prst="roundRect">
            <a:avLst>
              <a:gd name="adj" fmla="val 7273"/>
            </a:avLst>
          </a:prstGeom>
          <a:solidFill>
            <a:srgbClr val="15204A"/>
          </a:solidFill>
          <a:ln w="12700">
            <a:solidFill>
              <a:srgbClr val="FBBF24"/>
            </a:solidFill>
            <a:prstDash val="solid"/>
          </a:ln>
        </p:spPr>
      </p:sp>
      <p:sp>
        <p:nvSpPr>
          <p:cNvPr id="58" name="Text 55"/>
          <p:cNvSpPr txBox="1"/>
          <p:nvPr/>
        </p:nvSpPr>
        <p:spPr>
          <a:xfrm>
            <a:off x="6400800" y="3611880"/>
            <a:ext cx="2148840" cy="914400"/>
          </a:xfrm>
          <a:prstGeom prst="rect">
            <a:avLst/>
          </a:prstGeom>
          <a:noFill/>
          <a:ln/>
        </p:spPr>
        <p:txBody>
          <a:bodyPr wrap="square" lIns="0" tIns="0" rIns="0" bIns="0" rtlCol="0" anchor="ctr"/>
          <a:lstStyle/>
          <a:p>
            <a:pPr indent="0" marL="0">
              <a:buNone/>
            </a:pPr>
            <a:r>
              <a:rPr lang="en-US" sz="1050" b="1" dirty="0">
                <a:solidFill>
                  <a:srgbClr val="FBBF24"/>
                </a:solidFill>
              </a:rPr>
              <a:t>Browser-only demo using local storage. Not connected to MySQL.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Database Demonstration and Testing</a:t>
            </a:r>
            <a:endParaRPr lang="en-US" sz="2200" dirty="0"/>
          </a:p>
        </p:txBody>
      </p:sp>
      <p:sp>
        <p:nvSpPr>
          <p:cNvPr id="4" name="Text 2"/>
          <p:cNvSpPr txBox="1"/>
          <p:nvPr/>
        </p:nvSpPr>
        <p:spPr>
          <a:xfrm>
            <a:off x="640080" y="658368"/>
            <a:ext cx="8046720" cy="228600"/>
          </a:xfrm>
          <a:prstGeom prst="rect">
            <a:avLst/>
          </a:prstGeom>
          <a:noFill/>
          <a:ln/>
        </p:spPr>
        <p:txBody>
          <a:bodyPr wrap="square" lIns="0" tIns="0" rIns="0" bIns="0" rtlCol="0" anchor="ctr"/>
          <a:lstStyle/>
          <a:p>
            <a:pPr indent="0" marL="0">
              <a:buNone/>
            </a:pPr>
            <a:r>
              <a:rPr lang="en-US" sz="1100" dirty="0">
                <a:solidFill>
                  <a:srgbClr val="A9B4D6"/>
                </a:solidFill>
              </a:rPr>
              <a:t>MySQL Workbench-style illustrative mockup  |  not an actual screenshot</a:t>
            </a:r>
            <a:endParaRPr lang="en-US" sz="1100" dirty="0"/>
          </a:p>
        </p:txBody>
      </p:sp>
      <p:sp>
        <p:nvSpPr>
          <p:cNvPr id="5" name="Text 3"/>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10 / 12</a:t>
            </a:r>
            <a:endParaRPr lang="en-US" sz="9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8" name="Shape 5"/>
          <p:cNvSpPr/>
          <p:nvPr/>
        </p:nvSpPr>
        <p:spPr>
          <a:xfrm>
            <a:off x="457200" y="1051560"/>
            <a:ext cx="4846320" cy="3520440"/>
          </a:xfrm>
          <a:prstGeom prst="roundRect">
            <a:avLst>
              <a:gd name="adj" fmla="val 1558"/>
            </a:avLst>
          </a:prstGeom>
          <a:solidFill>
            <a:srgbClr val="F4F6FB"/>
          </a:solidFill>
          <a:ln w="12700">
            <a:solidFill>
              <a:srgbClr val="2A3768"/>
            </a:solidFill>
            <a:prstDash val="solid"/>
          </a:ln>
        </p:spPr>
      </p:sp>
      <p:sp>
        <p:nvSpPr>
          <p:cNvPr id="9" name="Shape 6"/>
          <p:cNvSpPr/>
          <p:nvPr/>
        </p:nvSpPr>
        <p:spPr>
          <a:xfrm>
            <a:off x="457200" y="1051560"/>
            <a:ext cx="4846320" cy="274320"/>
          </a:xfrm>
          <a:prstGeom prst="rect">
            <a:avLst/>
          </a:prstGeom>
          <a:solidFill>
            <a:srgbClr val="D9DEEC"/>
          </a:solidFill>
          <a:ln w="12700">
            <a:solidFill>
              <a:srgbClr val="D9DEEC"/>
            </a:solidFill>
            <a:prstDash val="solid"/>
          </a:ln>
        </p:spPr>
      </p:sp>
      <p:sp>
        <p:nvSpPr>
          <p:cNvPr id="10" name="Text 7"/>
          <p:cNvSpPr txBox="1"/>
          <p:nvPr/>
        </p:nvSpPr>
        <p:spPr>
          <a:xfrm>
            <a:off x="566928" y="1051560"/>
            <a:ext cx="4572000" cy="274320"/>
          </a:xfrm>
          <a:prstGeom prst="rect">
            <a:avLst/>
          </a:prstGeom>
          <a:noFill/>
          <a:ln/>
        </p:spPr>
        <p:txBody>
          <a:bodyPr wrap="square" lIns="0" tIns="0" rIns="0" bIns="0" rtlCol="0" anchor="ctr"/>
          <a:lstStyle/>
          <a:p>
            <a:pPr indent="0" marL="0">
              <a:buNone/>
            </a:pPr>
            <a:r>
              <a:rPr lang="en-US" sz="850" dirty="0">
                <a:solidFill>
                  <a:srgbClr val="33406B"/>
                </a:solidFill>
              </a:rPr>
              <a:t>MySQL Workbench   |   inventory_management   (illustrative)</a:t>
            </a:r>
            <a:endParaRPr lang="en-US" sz="850" dirty="0"/>
          </a:p>
        </p:txBody>
      </p:sp>
      <p:sp>
        <p:nvSpPr>
          <p:cNvPr id="11" name="Text 8"/>
          <p:cNvSpPr txBox="1"/>
          <p:nvPr/>
        </p:nvSpPr>
        <p:spPr>
          <a:xfrm>
            <a:off x="594360" y="1417320"/>
            <a:ext cx="4572000" cy="274320"/>
          </a:xfrm>
          <a:prstGeom prst="rect">
            <a:avLst/>
          </a:prstGeom>
          <a:noFill/>
          <a:ln/>
        </p:spPr>
        <p:txBody>
          <a:bodyPr wrap="square" lIns="0" tIns="0" rIns="0" bIns="0" rtlCol="0" anchor="t"/>
          <a:lstStyle/>
          <a:p>
            <a:pPr indent="0" marL="0">
              <a:buNone/>
            </a:pPr>
            <a:r>
              <a:rPr lang="en-US" sz="950" b="1" dirty="0">
                <a:solidFill>
                  <a:srgbClr val="6D28D9"/>
                </a:solidFill>
                <a:latin typeface="Consolas" pitchFamily="34" charset="0"/>
                <a:ea typeface="Consolas" pitchFamily="34" charset="-122"/>
                <a:cs typeface="Consolas" pitchFamily="34" charset="-120"/>
              </a:rPr>
              <a:t>SELECT </a:t>
            </a:r>
            <a:pPr indent="0" marL="0">
              <a:buNone/>
            </a:pPr>
            <a:r>
              <a:rPr lang="en-US" sz="950" dirty="0">
                <a:solidFill>
                  <a:srgbClr val="0B1530"/>
                </a:solidFill>
                <a:latin typeface="Consolas" pitchFamily="34" charset="0"/>
                <a:ea typeface="Consolas" pitchFamily="34" charset="-122"/>
                <a:cs typeface="Consolas" pitchFamily="34" charset="-120"/>
              </a:rPr>
              <a:t>product_name, current_stock </a:t>
            </a:r>
            <a:pPr indent="0" marL="0">
              <a:buNone/>
            </a:pPr>
            <a:r>
              <a:rPr lang="en-US" sz="950" b="1" dirty="0">
                <a:solidFill>
                  <a:srgbClr val="6D28D9"/>
                </a:solidFill>
                <a:latin typeface="Consolas" pitchFamily="34" charset="0"/>
                <a:ea typeface="Consolas" pitchFamily="34" charset="-122"/>
                <a:cs typeface="Consolas" pitchFamily="34" charset="-120"/>
              </a:rPr>
              <a:t>FROM </a:t>
            </a:r>
            <a:pPr indent="0" marL="0">
              <a:buNone/>
            </a:pPr>
            <a:r>
              <a:rPr lang="en-US" sz="950" dirty="0">
                <a:solidFill>
                  <a:srgbClr val="0B1530"/>
                </a:solidFill>
                <a:latin typeface="Consolas" pitchFamily="34" charset="0"/>
                <a:ea typeface="Consolas" pitchFamily="34" charset="-122"/>
                <a:cs typeface="Consolas" pitchFamily="34" charset="-120"/>
              </a:rPr>
              <a:t>products;</a:t>
            </a:r>
            <a:endParaRPr lang="en-US" sz="950" dirty="0"/>
          </a:p>
        </p:txBody>
      </p:sp>
      <p:sp>
        <p:nvSpPr>
          <p:cNvPr id="12" name="Shape 9"/>
          <p:cNvSpPr/>
          <p:nvPr/>
        </p:nvSpPr>
        <p:spPr>
          <a:xfrm>
            <a:off x="594360" y="1783080"/>
            <a:ext cx="4572000" cy="274320"/>
          </a:xfrm>
          <a:prstGeom prst="rect">
            <a:avLst/>
          </a:prstGeom>
          <a:solidFill>
            <a:srgbClr val="D9DEEC"/>
          </a:solidFill>
          <a:ln w="6350">
            <a:solidFill>
              <a:srgbClr val="D5DBEC"/>
            </a:solidFill>
            <a:prstDash val="solid"/>
          </a:ln>
        </p:spPr>
      </p:sp>
      <p:sp>
        <p:nvSpPr>
          <p:cNvPr id="13" name="Text 10"/>
          <p:cNvSpPr txBox="1"/>
          <p:nvPr/>
        </p:nvSpPr>
        <p:spPr>
          <a:xfrm>
            <a:off x="685800" y="1783080"/>
            <a:ext cx="2377440" cy="274320"/>
          </a:xfrm>
          <a:prstGeom prst="rect">
            <a:avLst/>
          </a:prstGeom>
          <a:noFill/>
          <a:ln/>
        </p:spPr>
        <p:txBody>
          <a:bodyPr wrap="square" lIns="0" tIns="0" rIns="0" bIns="0" rtlCol="0" anchor="ctr"/>
          <a:lstStyle/>
          <a:p>
            <a:pPr indent="0" marL="0">
              <a:buNone/>
            </a:pPr>
            <a:r>
              <a:rPr lang="en-US" sz="950" b="1" dirty="0">
                <a:solidFill>
                  <a:srgbClr val="0B1530"/>
                </a:solidFill>
              </a:rPr>
              <a:t>product_name</a:t>
            </a:r>
            <a:endParaRPr lang="en-US" sz="950" dirty="0"/>
          </a:p>
        </p:txBody>
      </p:sp>
      <p:sp>
        <p:nvSpPr>
          <p:cNvPr id="14" name="Text 11"/>
          <p:cNvSpPr txBox="1"/>
          <p:nvPr/>
        </p:nvSpPr>
        <p:spPr>
          <a:xfrm>
            <a:off x="3291840" y="1783080"/>
            <a:ext cx="1737360" cy="274320"/>
          </a:xfrm>
          <a:prstGeom prst="rect">
            <a:avLst/>
          </a:prstGeom>
          <a:noFill/>
          <a:ln/>
        </p:spPr>
        <p:txBody>
          <a:bodyPr wrap="square" lIns="0" tIns="0" rIns="0" bIns="0" rtlCol="0" anchor="ctr"/>
          <a:lstStyle/>
          <a:p>
            <a:pPr indent="0" marL="0">
              <a:buNone/>
            </a:pPr>
            <a:r>
              <a:rPr lang="en-US" sz="950" b="1" dirty="0">
                <a:solidFill>
                  <a:srgbClr val="0B1530"/>
                </a:solidFill>
              </a:rPr>
              <a:t>current_stock</a:t>
            </a:r>
            <a:endParaRPr lang="en-US" sz="950" dirty="0"/>
          </a:p>
        </p:txBody>
      </p:sp>
      <p:sp>
        <p:nvSpPr>
          <p:cNvPr id="15" name="Shape 12"/>
          <p:cNvSpPr/>
          <p:nvPr/>
        </p:nvSpPr>
        <p:spPr>
          <a:xfrm>
            <a:off x="594360" y="2057400"/>
            <a:ext cx="4572000" cy="274320"/>
          </a:xfrm>
          <a:prstGeom prst="rect">
            <a:avLst/>
          </a:prstGeom>
          <a:solidFill>
            <a:srgbClr val="FFFFFF"/>
          </a:solidFill>
          <a:ln w="6350">
            <a:solidFill>
              <a:srgbClr val="D5DBEC"/>
            </a:solidFill>
            <a:prstDash val="solid"/>
          </a:ln>
        </p:spPr>
      </p:sp>
      <p:sp>
        <p:nvSpPr>
          <p:cNvPr id="16" name="Text 13"/>
          <p:cNvSpPr txBox="1"/>
          <p:nvPr/>
        </p:nvSpPr>
        <p:spPr>
          <a:xfrm>
            <a:off x="685800" y="2057400"/>
            <a:ext cx="2377440" cy="274320"/>
          </a:xfrm>
          <a:prstGeom prst="rect">
            <a:avLst/>
          </a:prstGeom>
          <a:noFill/>
          <a:ln/>
        </p:spPr>
        <p:txBody>
          <a:bodyPr wrap="square" lIns="0" tIns="0" rIns="0" bIns="0" rtlCol="0" anchor="ctr"/>
          <a:lstStyle/>
          <a:p>
            <a:pPr indent="0" marL="0">
              <a:buNone/>
            </a:pPr>
            <a:r>
              <a:rPr lang="en-US" sz="950" dirty="0">
                <a:solidFill>
                  <a:srgbClr val="0B1530"/>
                </a:solidFill>
              </a:rPr>
              <a:t>Wireless Mouse</a:t>
            </a:r>
            <a:endParaRPr lang="en-US" sz="950" dirty="0"/>
          </a:p>
        </p:txBody>
      </p:sp>
      <p:sp>
        <p:nvSpPr>
          <p:cNvPr id="17" name="Text 14"/>
          <p:cNvSpPr txBox="1"/>
          <p:nvPr/>
        </p:nvSpPr>
        <p:spPr>
          <a:xfrm>
            <a:off x="3291840" y="2057400"/>
            <a:ext cx="1737360" cy="274320"/>
          </a:xfrm>
          <a:prstGeom prst="rect">
            <a:avLst/>
          </a:prstGeom>
          <a:noFill/>
          <a:ln/>
        </p:spPr>
        <p:txBody>
          <a:bodyPr wrap="square" lIns="0" tIns="0" rIns="0" bIns="0" rtlCol="0" anchor="ctr"/>
          <a:lstStyle/>
          <a:p>
            <a:pPr indent="0" marL="0">
              <a:buNone/>
            </a:pPr>
            <a:r>
              <a:rPr lang="en-US" sz="950" dirty="0">
                <a:solidFill>
                  <a:srgbClr val="0B1530"/>
                </a:solidFill>
              </a:rPr>
              <a:t>52</a:t>
            </a:r>
            <a:endParaRPr lang="en-US" sz="950" dirty="0"/>
          </a:p>
        </p:txBody>
      </p:sp>
      <p:sp>
        <p:nvSpPr>
          <p:cNvPr id="18" name="Shape 15"/>
          <p:cNvSpPr/>
          <p:nvPr/>
        </p:nvSpPr>
        <p:spPr>
          <a:xfrm>
            <a:off x="594360" y="2331720"/>
            <a:ext cx="4572000" cy="274320"/>
          </a:xfrm>
          <a:prstGeom prst="rect">
            <a:avLst/>
          </a:prstGeom>
          <a:solidFill>
            <a:srgbClr val="EEF1F8"/>
          </a:solidFill>
          <a:ln w="6350">
            <a:solidFill>
              <a:srgbClr val="D5DBEC"/>
            </a:solidFill>
            <a:prstDash val="solid"/>
          </a:ln>
        </p:spPr>
      </p:sp>
      <p:sp>
        <p:nvSpPr>
          <p:cNvPr id="19" name="Text 16"/>
          <p:cNvSpPr txBox="1"/>
          <p:nvPr/>
        </p:nvSpPr>
        <p:spPr>
          <a:xfrm>
            <a:off x="685800" y="2331720"/>
            <a:ext cx="2377440" cy="274320"/>
          </a:xfrm>
          <a:prstGeom prst="rect">
            <a:avLst/>
          </a:prstGeom>
          <a:noFill/>
          <a:ln/>
        </p:spPr>
        <p:txBody>
          <a:bodyPr wrap="square" lIns="0" tIns="0" rIns="0" bIns="0" rtlCol="0" anchor="ctr"/>
          <a:lstStyle/>
          <a:p>
            <a:pPr indent="0" marL="0">
              <a:buNone/>
            </a:pPr>
            <a:r>
              <a:rPr lang="en-US" sz="950" dirty="0">
                <a:solidFill>
                  <a:srgbClr val="0B1530"/>
                </a:solidFill>
              </a:rPr>
              <a:t>Keyboard</a:t>
            </a:r>
            <a:endParaRPr lang="en-US" sz="950" dirty="0"/>
          </a:p>
        </p:txBody>
      </p:sp>
      <p:sp>
        <p:nvSpPr>
          <p:cNvPr id="20" name="Text 17"/>
          <p:cNvSpPr txBox="1"/>
          <p:nvPr/>
        </p:nvSpPr>
        <p:spPr>
          <a:xfrm>
            <a:off x="3291840" y="2331720"/>
            <a:ext cx="1737360" cy="274320"/>
          </a:xfrm>
          <a:prstGeom prst="rect">
            <a:avLst/>
          </a:prstGeom>
          <a:noFill/>
          <a:ln/>
        </p:spPr>
        <p:txBody>
          <a:bodyPr wrap="square" lIns="0" tIns="0" rIns="0" bIns="0" rtlCol="0" anchor="ctr"/>
          <a:lstStyle/>
          <a:p>
            <a:pPr indent="0" marL="0">
              <a:buNone/>
            </a:pPr>
            <a:r>
              <a:rPr lang="en-US" sz="950" dirty="0">
                <a:solidFill>
                  <a:srgbClr val="0B1530"/>
                </a:solidFill>
              </a:rPr>
              <a:t>30</a:t>
            </a:r>
            <a:endParaRPr lang="en-US" sz="950" dirty="0"/>
          </a:p>
        </p:txBody>
      </p:sp>
      <p:sp>
        <p:nvSpPr>
          <p:cNvPr id="21" name="Shape 18"/>
          <p:cNvSpPr/>
          <p:nvPr/>
        </p:nvSpPr>
        <p:spPr>
          <a:xfrm>
            <a:off x="594360" y="2606040"/>
            <a:ext cx="4572000" cy="274320"/>
          </a:xfrm>
          <a:prstGeom prst="rect">
            <a:avLst/>
          </a:prstGeom>
          <a:solidFill>
            <a:srgbClr val="FFFFFF"/>
          </a:solidFill>
          <a:ln w="6350">
            <a:solidFill>
              <a:srgbClr val="D5DBEC"/>
            </a:solidFill>
            <a:prstDash val="solid"/>
          </a:ln>
        </p:spPr>
      </p:sp>
      <p:sp>
        <p:nvSpPr>
          <p:cNvPr id="22" name="Text 19"/>
          <p:cNvSpPr txBox="1"/>
          <p:nvPr/>
        </p:nvSpPr>
        <p:spPr>
          <a:xfrm>
            <a:off x="685800" y="2606040"/>
            <a:ext cx="2377440" cy="274320"/>
          </a:xfrm>
          <a:prstGeom prst="rect">
            <a:avLst/>
          </a:prstGeom>
          <a:noFill/>
          <a:ln/>
        </p:spPr>
        <p:txBody>
          <a:bodyPr wrap="square" lIns="0" tIns="0" rIns="0" bIns="0" rtlCol="0" anchor="ctr"/>
          <a:lstStyle/>
          <a:p>
            <a:pPr indent="0" marL="0">
              <a:buNone/>
            </a:pPr>
            <a:r>
              <a:rPr lang="en-US" sz="950" dirty="0">
                <a:solidFill>
                  <a:srgbClr val="0B1530"/>
                </a:solidFill>
              </a:rPr>
              <a:t>Notebook</a:t>
            </a:r>
            <a:endParaRPr lang="en-US" sz="950" dirty="0"/>
          </a:p>
        </p:txBody>
      </p:sp>
      <p:sp>
        <p:nvSpPr>
          <p:cNvPr id="23" name="Text 20"/>
          <p:cNvSpPr txBox="1"/>
          <p:nvPr/>
        </p:nvSpPr>
        <p:spPr>
          <a:xfrm>
            <a:off x="3291840" y="2606040"/>
            <a:ext cx="1737360" cy="274320"/>
          </a:xfrm>
          <a:prstGeom prst="rect">
            <a:avLst/>
          </a:prstGeom>
          <a:noFill/>
          <a:ln/>
        </p:spPr>
        <p:txBody>
          <a:bodyPr wrap="square" lIns="0" tIns="0" rIns="0" bIns="0" rtlCol="0" anchor="ctr"/>
          <a:lstStyle/>
          <a:p>
            <a:pPr indent="0" marL="0">
              <a:buNone/>
            </a:pPr>
            <a:r>
              <a:rPr lang="en-US" sz="950" dirty="0">
                <a:solidFill>
                  <a:srgbClr val="0B1530"/>
                </a:solidFill>
              </a:rPr>
              <a:t>15</a:t>
            </a:r>
            <a:endParaRPr lang="en-US" sz="950" dirty="0"/>
          </a:p>
        </p:txBody>
      </p:sp>
      <p:sp>
        <p:nvSpPr>
          <p:cNvPr id="24" name="Shape 21"/>
          <p:cNvSpPr/>
          <p:nvPr/>
        </p:nvSpPr>
        <p:spPr>
          <a:xfrm>
            <a:off x="594360" y="2880360"/>
            <a:ext cx="4572000" cy="274320"/>
          </a:xfrm>
          <a:prstGeom prst="rect">
            <a:avLst/>
          </a:prstGeom>
          <a:solidFill>
            <a:srgbClr val="EEF1F8"/>
          </a:solidFill>
          <a:ln w="6350">
            <a:solidFill>
              <a:srgbClr val="D5DBEC"/>
            </a:solidFill>
            <a:prstDash val="solid"/>
          </a:ln>
        </p:spPr>
      </p:sp>
      <p:sp>
        <p:nvSpPr>
          <p:cNvPr id="25" name="Text 22"/>
          <p:cNvSpPr txBox="1"/>
          <p:nvPr/>
        </p:nvSpPr>
        <p:spPr>
          <a:xfrm>
            <a:off x="685800" y="2880360"/>
            <a:ext cx="2377440" cy="274320"/>
          </a:xfrm>
          <a:prstGeom prst="rect">
            <a:avLst/>
          </a:prstGeom>
          <a:noFill/>
          <a:ln/>
        </p:spPr>
        <p:txBody>
          <a:bodyPr wrap="square" lIns="0" tIns="0" rIns="0" bIns="0" rtlCol="0" anchor="ctr"/>
          <a:lstStyle/>
          <a:p>
            <a:pPr indent="0" marL="0">
              <a:buNone/>
            </a:pPr>
            <a:r>
              <a:rPr lang="en-US" sz="950" dirty="0">
                <a:solidFill>
                  <a:srgbClr val="0B1530"/>
                </a:solidFill>
              </a:rPr>
              <a:t>Office Chair</a:t>
            </a:r>
            <a:endParaRPr lang="en-US" sz="950" dirty="0"/>
          </a:p>
        </p:txBody>
      </p:sp>
      <p:sp>
        <p:nvSpPr>
          <p:cNvPr id="26" name="Text 23"/>
          <p:cNvSpPr txBox="1"/>
          <p:nvPr/>
        </p:nvSpPr>
        <p:spPr>
          <a:xfrm>
            <a:off x="3291840" y="2880360"/>
            <a:ext cx="1737360" cy="274320"/>
          </a:xfrm>
          <a:prstGeom prst="rect">
            <a:avLst/>
          </a:prstGeom>
          <a:noFill/>
          <a:ln/>
        </p:spPr>
        <p:txBody>
          <a:bodyPr wrap="square" lIns="0" tIns="0" rIns="0" bIns="0" rtlCol="0" anchor="ctr"/>
          <a:lstStyle/>
          <a:p>
            <a:pPr indent="0" marL="0">
              <a:buNone/>
            </a:pPr>
            <a:r>
              <a:rPr lang="en-US" sz="950" dirty="0">
                <a:solidFill>
                  <a:srgbClr val="0B1530"/>
                </a:solidFill>
              </a:rPr>
              <a:t>10</a:t>
            </a:r>
            <a:endParaRPr lang="en-US" sz="950" dirty="0"/>
          </a:p>
        </p:txBody>
      </p:sp>
      <p:sp>
        <p:nvSpPr>
          <p:cNvPr id="27" name="Shape 24"/>
          <p:cNvSpPr/>
          <p:nvPr/>
        </p:nvSpPr>
        <p:spPr>
          <a:xfrm>
            <a:off x="594360" y="3154680"/>
            <a:ext cx="4572000" cy="274320"/>
          </a:xfrm>
          <a:prstGeom prst="rect">
            <a:avLst/>
          </a:prstGeom>
          <a:solidFill>
            <a:srgbClr val="FFFFFF"/>
          </a:solidFill>
          <a:ln w="6350">
            <a:solidFill>
              <a:srgbClr val="D5DBEC"/>
            </a:solidFill>
            <a:prstDash val="solid"/>
          </a:ln>
        </p:spPr>
      </p:sp>
      <p:sp>
        <p:nvSpPr>
          <p:cNvPr id="28" name="Text 25"/>
          <p:cNvSpPr txBox="1"/>
          <p:nvPr/>
        </p:nvSpPr>
        <p:spPr>
          <a:xfrm>
            <a:off x="685800" y="3154680"/>
            <a:ext cx="2377440" cy="274320"/>
          </a:xfrm>
          <a:prstGeom prst="rect">
            <a:avLst/>
          </a:prstGeom>
          <a:noFill/>
          <a:ln/>
        </p:spPr>
        <p:txBody>
          <a:bodyPr wrap="square" lIns="0" tIns="0" rIns="0" bIns="0" rtlCol="0" anchor="ctr"/>
          <a:lstStyle/>
          <a:p>
            <a:pPr indent="0" marL="0">
              <a:buNone/>
            </a:pPr>
            <a:r>
              <a:rPr lang="en-US" sz="950" dirty="0">
                <a:solidFill>
                  <a:srgbClr val="0B1530"/>
                </a:solidFill>
              </a:rPr>
              <a:t>USB Cable</a:t>
            </a:r>
            <a:endParaRPr lang="en-US" sz="950" dirty="0"/>
          </a:p>
        </p:txBody>
      </p:sp>
      <p:sp>
        <p:nvSpPr>
          <p:cNvPr id="29" name="Text 26"/>
          <p:cNvSpPr txBox="1"/>
          <p:nvPr/>
        </p:nvSpPr>
        <p:spPr>
          <a:xfrm>
            <a:off x="3291840" y="3154680"/>
            <a:ext cx="1737360" cy="274320"/>
          </a:xfrm>
          <a:prstGeom prst="rect">
            <a:avLst/>
          </a:prstGeom>
          <a:noFill/>
          <a:ln/>
        </p:spPr>
        <p:txBody>
          <a:bodyPr wrap="square" lIns="0" tIns="0" rIns="0" bIns="0" rtlCol="0" anchor="ctr"/>
          <a:lstStyle/>
          <a:p>
            <a:pPr indent="0" marL="0">
              <a:buNone/>
            </a:pPr>
            <a:r>
              <a:rPr lang="en-US" sz="950" dirty="0">
                <a:solidFill>
                  <a:srgbClr val="0B1530"/>
                </a:solidFill>
              </a:rPr>
              <a:t>40</a:t>
            </a:r>
            <a:endParaRPr lang="en-US" sz="950" dirty="0"/>
          </a:p>
        </p:txBody>
      </p:sp>
      <p:sp>
        <p:nvSpPr>
          <p:cNvPr id="30" name="Text 27"/>
          <p:cNvSpPr txBox="1"/>
          <p:nvPr/>
        </p:nvSpPr>
        <p:spPr>
          <a:xfrm>
            <a:off x="594360" y="3520440"/>
            <a:ext cx="4572000" cy="228600"/>
          </a:xfrm>
          <a:prstGeom prst="rect">
            <a:avLst/>
          </a:prstGeom>
          <a:noFill/>
          <a:ln/>
        </p:spPr>
        <p:txBody>
          <a:bodyPr wrap="square" lIns="0" tIns="0" rIns="0" bIns="0" rtlCol="0" anchor="t"/>
          <a:lstStyle/>
          <a:p>
            <a:pPr indent="0" marL="0">
              <a:buNone/>
            </a:pPr>
            <a:r>
              <a:rPr lang="en-US" sz="900" dirty="0">
                <a:solidFill>
                  <a:srgbClr val="5A6483"/>
                </a:solidFill>
              </a:rPr>
              <a:t>Sample values after all listed test transactions</a:t>
            </a:r>
            <a:endParaRPr lang="en-US" sz="900" dirty="0"/>
          </a:p>
        </p:txBody>
      </p:sp>
      <p:sp>
        <p:nvSpPr>
          <p:cNvPr id="31" name="Shape 28"/>
          <p:cNvSpPr/>
          <p:nvPr/>
        </p:nvSpPr>
        <p:spPr>
          <a:xfrm>
            <a:off x="594360" y="3840480"/>
            <a:ext cx="4572000" cy="548640"/>
          </a:xfrm>
          <a:prstGeom prst="rect">
            <a:avLst/>
          </a:prstGeom>
          <a:solidFill>
            <a:srgbClr val="FDECEC"/>
          </a:solidFill>
          <a:ln w="12700">
            <a:solidFill>
              <a:srgbClr val="F5B5B5"/>
            </a:solidFill>
            <a:prstDash val="solid"/>
          </a:ln>
        </p:spPr>
      </p:sp>
      <p:sp>
        <p:nvSpPr>
          <p:cNvPr id="32" name="Text 29"/>
          <p:cNvSpPr txBox="1"/>
          <p:nvPr/>
        </p:nvSpPr>
        <p:spPr>
          <a:xfrm>
            <a:off x="685800" y="3840480"/>
            <a:ext cx="4389120" cy="548640"/>
          </a:xfrm>
          <a:prstGeom prst="rect">
            <a:avLst/>
          </a:prstGeom>
          <a:noFill/>
          <a:ln/>
        </p:spPr>
        <p:txBody>
          <a:bodyPr wrap="square" lIns="0" tIns="0" rIns="0" bIns="0" rtlCol="0" anchor="ctr"/>
          <a:lstStyle/>
          <a:p>
            <a:pPr indent="0" marL="0">
              <a:buNone/>
            </a:pPr>
            <a:r>
              <a:rPr lang="en-US" sz="900" dirty="0">
                <a:solidFill>
                  <a:srgbClr val="9B1C1C"/>
                </a:solidFill>
              </a:rPr>
              <a:t>Expected for test 3: an error is raised when OUT quantity exceeds stock (illustrative).</a:t>
            </a:r>
            <a:endParaRPr lang="en-US" sz="900" dirty="0"/>
          </a:p>
        </p:txBody>
      </p:sp>
      <p:sp>
        <p:nvSpPr>
          <p:cNvPr id="33" name="Shape 30"/>
          <p:cNvSpPr/>
          <p:nvPr/>
        </p:nvSpPr>
        <p:spPr>
          <a:xfrm>
            <a:off x="5486400" y="1051560"/>
            <a:ext cx="3200400" cy="3520440"/>
          </a:xfrm>
          <a:prstGeom prst="roundRect">
            <a:avLst>
              <a:gd name="adj" fmla="val 2286"/>
            </a:avLst>
          </a:prstGeom>
          <a:solidFill>
            <a:srgbClr val="15204A"/>
          </a:solidFill>
          <a:ln w="12700">
            <a:solidFill>
              <a:srgbClr val="2DD4BF"/>
            </a:solidFill>
            <a:prstDash val="solid"/>
          </a:ln>
        </p:spPr>
      </p:sp>
      <p:sp>
        <p:nvSpPr>
          <p:cNvPr id="34" name="Text 31"/>
          <p:cNvSpPr txBox="1"/>
          <p:nvPr/>
        </p:nvSpPr>
        <p:spPr>
          <a:xfrm>
            <a:off x="5669280" y="1143000"/>
            <a:ext cx="2834640" cy="274320"/>
          </a:xfrm>
          <a:prstGeom prst="rect">
            <a:avLst/>
          </a:prstGeom>
          <a:noFill/>
          <a:ln/>
        </p:spPr>
        <p:txBody>
          <a:bodyPr wrap="square" lIns="0" tIns="0" rIns="0" bIns="0" rtlCol="0" anchor="t"/>
          <a:lstStyle/>
          <a:p>
            <a:pPr indent="0" marL="0">
              <a:buNone/>
            </a:pPr>
            <a:r>
              <a:rPr lang="en-US" sz="1200" b="1" dirty="0">
                <a:solidFill>
                  <a:srgbClr val="2DD4BF"/>
                </a:solidFill>
              </a:rPr>
              <a:t>Test cases to run and verify</a:t>
            </a:r>
            <a:endParaRPr lang="en-US" sz="1200" dirty="0"/>
          </a:p>
        </p:txBody>
      </p:sp>
      <p:sp>
        <p:nvSpPr>
          <p:cNvPr id="35" name="Text 32"/>
          <p:cNvSpPr txBox="1"/>
          <p:nvPr/>
        </p:nvSpPr>
        <p:spPr>
          <a:xfrm>
            <a:off x="5669280" y="1508760"/>
            <a:ext cx="2880360" cy="24688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00" dirty="0">
                <a:solidFill>
                  <a:srgbClr val="FFFFFF"/>
                </a:solidFill>
              </a:rPr>
              <a:t>Stock-in increases stock</a:t>
            </a:r>
            <a:endParaRPr lang="en-US" sz="1100" dirty="0"/>
          </a:p>
          <a:p>
            <a:pPr marL="342900" indent="-342900">
              <a:spcAft>
                <a:spcPts val="600"/>
              </a:spcAft>
              <a:buSzPct val="100000"/>
              <a:buFont typeface="+mj-lt"/>
              <a:buAutoNum type="arabicPeriod" startAt="1"/>
            </a:pPr>
            <a:r>
              <a:rPr lang="en-US" sz="1100" dirty="0">
                <a:solidFill>
                  <a:srgbClr val="FFFFFF"/>
                </a:solidFill>
              </a:rPr>
              <a:t>Stock-out reduces stock</a:t>
            </a:r>
            <a:endParaRPr lang="en-US" sz="1100" dirty="0"/>
          </a:p>
          <a:p>
            <a:pPr marL="342900" indent="-342900">
              <a:spcAft>
                <a:spcPts val="600"/>
              </a:spcAft>
              <a:buSzPct val="100000"/>
              <a:buFont typeface="+mj-lt"/>
              <a:buAutoNum type="arabicPeriod" startAt="1"/>
            </a:pPr>
            <a:r>
              <a:rPr lang="en-US" sz="1100" dirty="0">
                <a:solidFill>
                  <a:srgbClr val="FFFFFF"/>
                </a:solidFill>
              </a:rPr>
              <a:t>OUT above stock raises an error</a:t>
            </a:r>
            <a:endParaRPr lang="en-US" sz="1100" dirty="0"/>
          </a:p>
          <a:p>
            <a:pPr marL="342900" indent="-342900">
              <a:spcAft>
                <a:spcPts val="600"/>
              </a:spcAft>
              <a:buSzPct val="100000"/>
              <a:buFont typeface="+mj-lt"/>
              <a:buAutoNum type="arabicPeriod" startAt="1"/>
            </a:pPr>
            <a:r>
              <a:rPr lang="en-US" sz="1100" dirty="0">
                <a:solidFill>
                  <a:srgbClr val="FFFFFF"/>
                </a:solidFill>
              </a:rPr>
              <a:t>Low-stock report shows items at or below reorder level</a:t>
            </a:r>
            <a:endParaRPr lang="en-US" sz="1100" dirty="0"/>
          </a:p>
          <a:p>
            <a:pPr marL="342900" indent="-342900">
              <a:spcAft>
                <a:spcPts val="600"/>
              </a:spcAft>
              <a:buSzPct val="100000"/>
              <a:buFont typeface="+mj-lt"/>
              <a:buAutoNum type="arabicPeriod" startAt="1"/>
            </a:pPr>
            <a:r>
              <a:rPr lang="en-US" sz="1100" dirty="0">
                <a:solidFill>
                  <a:srgbClr val="FFFFFF"/>
                </a:solidFill>
              </a:rPr>
              <a:t>Inventory report shows category, supplier, stock value, status</a:t>
            </a:r>
            <a:endParaRPr lang="en-US" sz="1100" dirty="0"/>
          </a:p>
        </p:txBody>
      </p:sp>
      <p:sp>
        <p:nvSpPr>
          <p:cNvPr id="36" name="Text 33"/>
          <p:cNvSpPr txBox="1"/>
          <p:nvPr/>
        </p:nvSpPr>
        <p:spPr>
          <a:xfrm>
            <a:off x="5669280" y="4023360"/>
            <a:ext cx="2834640" cy="457200"/>
          </a:xfrm>
          <a:prstGeom prst="rect">
            <a:avLst/>
          </a:prstGeom>
          <a:noFill/>
          <a:ln/>
        </p:spPr>
        <p:txBody>
          <a:bodyPr wrap="square" lIns="0" tIns="0" rIns="0" bIns="0" rtlCol="0" anchor="t"/>
          <a:lstStyle/>
          <a:p>
            <a:pPr indent="0" marL="0">
              <a:buNone/>
            </a:pPr>
            <a:r>
              <a:rPr lang="en-US" sz="950" i="1" dirty="0">
                <a:solidFill>
                  <a:srgbClr val="FBBF24"/>
                </a:solidFill>
              </a:rPr>
              <a:t>Mark each as passed only after running it.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457200" y="384048"/>
            <a:ext cx="64008" cy="457200"/>
          </a:xfrm>
          <a:prstGeom prst="rect">
            <a:avLst/>
          </a:prstGeom>
          <a:solidFill>
            <a:srgbClr val="2DD4BF"/>
          </a:solidFill>
          <a:ln w="12700">
            <a:solidFill>
              <a:srgbClr val="2DD4BF"/>
            </a:solidFill>
            <a:prstDash val="solid"/>
          </a:ln>
        </p:spPr>
      </p:sp>
      <p:sp>
        <p:nvSpPr>
          <p:cNvPr id="3" name="Text 1"/>
          <p:cNvSpPr txBox="1"/>
          <p:nvPr/>
        </p:nvSpPr>
        <p:spPr>
          <a:xfrm>
            <a:off x="640080" y="320040"/>
            <a:ext cx="8046720" cy="365760"/>
          </a:xfrm>
          <a:prstGeom prst="rect">
            <a:avLst/>
          </a:prstGeom>
          <a:noFill/>
          <a:ln/>
        </p:spPr>
        <p:txBody>
          <a:bodyPr wrap="square" lIns="0" tIns="0" rIns="0" bIns="0" rtlCol="0" anchor="ctr"/>
          <a:lstStyle/>
          <a:p>
            <a:pPr indent="0" marL="0">
              <a:buNone/>
            </a:pPr>
            <a:r>
              <a:rPr lang="en-US" sz="2200" b="1" dirty="0">
                <a:solidFill>
                  <a:srgbClr val="FFFFFF"/>
                </a:solidFill>
              </a:rPr>
              <a:t>Conclusion and Future Scope</a:t>
            </a:r>
            <a:endParaRPr lang="en-US" sz="2200" dirty="0"/>
          </a:p>
        </p:txBody>
      </p:sp>
      <p:sp>
        <p:nvSpPr>
          <p:cNvPr id="4" name="Text 2"/>
          <p:cNvSpPr txBox="1"/>
          <p:nvPr/>
        </p:nvSpPr>
        <p:spPr>
          <a:xfrm>
            <a:off x="7863840" y="4800600"/>
            <a:ext cx="822960" cy="228600"/>
          </a:xfrm>
          <a:prstGeom prst="rect">
            <a:avLst/>
          </a:prstGeom>
          <a:noFill/>
          <a:ln/>
        </p:spPr>
        <p:txBody>
          <a:bodyPr wrap="square" lIns="0" tIns="0" rIns="0" bIns="0" rtlCol="0" anchor="ctr"/>
          <a:lstStyle/>
          <a:p>
            <a:pPr algn="r" indent="0" marL="0">
              <a:buNone/>
            </a:pPr>
            <a:r>
              <a:rPr lang="en-US" sz="900" dirty="0">
                <a:solidFill>
                  <a:srgbClr val="A9B4D6"/>
                </a:solidFill>
              </a:rPr>
              <a:t>11 / 12</a:t>
            </a:r>
            <a:endParaRPr lang="en-US" sz="900" dirty="0"/>
          </a:p>
        </p:txBody>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A9B4D6"/>
                </a:solidFill>
              </a:rPr>
              <a:t>Inventory and Stock Management System  |  DBMS Mini Project</a:t>
            </a:r>
            <a:endParaRPr lang="en-US" sz="900" dirty="0"/>
          </a:p>
        </p:txBody>
      </p:sp>
      <p:sp>
        <p:nvSpPr>
          <p:cNvPr id="7" name="Shape 4"/>
          <p:cNvSpPr/>
          <p:nvPr/>
        </p:nvSpPr>
        <p:spPr>
          <a:xfrm>
            <a:off x="457200" y="1051560"/>
            <a:ext cx="4023360" cy="3520440"/>
          </a:xfrm>
          <a:prstGeom prst="roundRect">
            <a:avLst>
              <a:gd name="adj" fmla="val 2078"/>
            </a:avLst>
          </a:prstGeom>
          <a:solidFill>
            <a:srgbClr val="15204A"/>
          </a:solidFill>
          <a:ln w="12700">
            <a:solidFill>
              <a:srgbClr val="2DD4BF"/>
            </a:solidFill>
            <a:prstDash val="solid"/>
          </a:ln>
        </p:spPr>
      </p:sp>
      <p:sp>
        <p:nvSpPr>
          <p:cNvPr id="8" name="Text 5"/>
          <p:cNvSpPr txBox="1"/>
          <p:nvPr/>
        </p:nvSpPr>
        <p:spPr>
          <a:xfrm>
            <a:off x="640080" y="1170432"/>
            <a:ext cx="3657600" cy="274320"/>
          </a:xfrm>
          <a:prstGeom prst="rect">
            <a:avLst/>
          </a:prstGeom>
          <a:noFill/>
          <a:ln/>
        </p:spPr>
        <p:txBody>
          <a:bodyPr wrap="square" lIns="0" tIns="0" rIns="0" bIns="0" rtlCol="0" anchor="t"/>
          <a:lstStyle/>
          <a:p>
            <a:pPr indent="0" marL="0">
              <a:buNone/>
            </a:pPr>
            <a:r>
              <a:rPr lang="en-US" sz="1400" b="1" dirty="0">
                <a:solidFill>
                  <a:srgbClr val="2DD4BF"/>
                </a:solidFill>
              </a:rPr>
              <a:t>Implemented</a:t>
            </a:r>
            <a:endParaRPr lang="en-US" sz="1400" dirty="0"/>
          </a:p>
        </p:txBody>
      </p:sp>
      <p:sp>
        <p:nvSpPr>
          <p:cNvPr id="9" name="Text 6"/>
          <p:cNvSpPr txBox="1"/>
          <p:nvPr/>
        </p:nvSpPr>
        <p:spPr>
          <a:xfrm>
            <a:off x="640080" y="1554480"/>
            <a:ext cx="365760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rPr>
              <a:t>Structured storage of inventory information</a:t>
            </a:r>
            <a:endParaRPr lang="en-US" sz="1200" dirty="0"/>
          </a:p>
          <a:p>
            <a:pPr marL="342900" indent="-342900">
              <a:spcAft>
                <a:spcPts val="500"/>
              </a:spcAft>
              <a:buSzPct val="100000"/>
              <a:buChar char="•"/>
            </a:pPr>
            <a:r>
              <a:rPr lang="en-US" sz="1200" dirty="0">
                <a:solidFill>
                  <a:srgbClr val="FFFFFF"/>
                </a:solidFill>
              </a:rPr>
              <a:t>Relationships between products, categories, suppliers and transactions</a:t>
            </a:r>
            <a:endParaRPr lang="en-US" sz="1200" dirty="0"/>
          </a:p>
          <a:p>
            <a:pPr marL="342900" indent="-342900">
              <a:spcAft>
                <a:spcPts val="500"/>
              </a:spcAft>
              <a:buSzPct val="100000"/>
              <a:buChar char="•"/>
            </a:pPr>
            <a:r>
              <a:rPr lang="en-US" sz="1200" dirty="0">
                <a:solidFill>
                  <a:srgbClr val="FFFFFF"/>
                </a:solidFill>
              </a:rPr>
              <a:t>SQL queries and reports</a:t>
            </a:r>
            <a:endParaRPr lang="en-US" sz="1200" dirty="0"/>
          </a:p>
          <a:p>
            <a:pPr marL="342900" indent="-342900">
              <a:spcAft>
                <a:spcPts val="500"/>
              </a:spcAft>
              <a:buSzPct val="100000"/>
              <a:buChar char="•"/>
            </a:pPr>
            <a:r>
              <a:rPr lang="en-US" sz="1200" dirty="0">
                <a:solidFill>
                  <a:srgbClr val="FFFFFF"/>
                </a:solidFill>
              </a:rPr>
              <a:t>Stock validation and automatic quantity updates</a:t>
            </a:r>
            <a:endParaRPr lang="en-US" sz="1200" dirty="0"/>
          </a:p>
          <a:p>
            <a:pPr marL="342900" indent="-342900">
              <a:spcAft>
                <a:spcPts val="500"/>
              </a:spcAft>
              <a:buSzPct val="100000"/>
              <a:buChar char="•"/>
            </a:pPr>
            <a:r>
              <a:rPr lang="en-US" sz="1200" dirty="0">
                <a:solidFill>
                  <a:srgbClr val="FFFFFF"/>
                </a:solidFill>
              </a:rPr>
              <a:t>Low-stock identification</a:t>
            </a:r>
            <a:endParaRPr lang="en-US" sz="1200" dirty="0"/>
          </a:p>
        </p:txBody>
      </p:sp>
      <p:sp>
        <p:nvSpPr>
          <p:cNvPr id="10" name="Shape 7"/>
          <p:cNvSpPr/>
          <p:nvPr/>
        </p:nvSpPr>
        <p:spPr>
          <a:xfrm>
            <a:off x="4663440" y="1051560"/>
            <a:ext cx="4023360" cy="3520440"/>
          </a:xfrm>
          <a:prstGeom prst="roundRect">
            <a:avLst>
              <a:gd name="adj" fmla="val 2078"/>
            </a:avLst>
          </a:prstGeom>
          <a:solidFill>
            <a:srgbClr val="15204A"/>
          </a:solidFill>
          <a:ln w="12700">
            <a:solidFill>
              <a:srgbClr val="A78BFA"/>
            </a:solidFill>
            <a:prstDash val="solid"/>
          </a:ln>
        </p:spPr>
      </p:sp>
      <p:sp>
        <p:nvSpPr>
          <p:cNvPr id="11" name="Text 8"/>
          <p:cNvSpPr txBox="1"/>
          <p:nvPr/>
        </p:nvSpPr>
        <p:spPr>
          <a:xfrm>
            <a:off x="4846320" y="1170432"/>
            <a:ext cx="3657600" cy="274320"/>
          </a:xfrm>
          <a:prstGeom prst="rect">
            <a:avLst/>
          </a:prstGeom>
          <a:noFill/>
          <a:ln/>
        </p:spPr>
        <p:txBody>
          <a:bodyPr wrap="square" lIns="0" tIns="0" rIns="0" bIns="0" rtlCol="0" anchor="t"/>
          <a:lstStyle/>
          <a:p>
            <a:pPr indent="0" marL="0">
              <a:buNone/>
            </a:pPr>
            <a:r>
              <a:rPr lang="en-US" sz="1400" b="1" dirty="0">
                <a:solidFill>
                  <a:srgbClr val="A78BFA"/>
                </a:solidFill>
              </a:rPr>
              <a:t>Future scope (not implemented)</a:t>
            </a:r>
            <a:endParaRPr lang="en-US" sz="1400" dirty="0"/>
          </a:p>
        </p:txBody>
      </p:sp>
      <p:sp>
        <p:nvSpPr>
          <p:cNvPr id="12" name="Text 9"/>
          <p:cNvSpPr txBox="1"/>
          <p:nvPr/>
        </p:nvSpPr>
        <p:spPr>
          <a:xfrm>
            <a:off x="4846320" y="1554480"/>
            <a:ext cx="365760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rPr>
              <a:t>Connect website to MySQL via a backend</a:t>
            </a:r>
            <a:endParaRPr lang="en-US" sz="1200" dirty="0"/>
          </a:p>
          <a:p>
            <a:pPr marL="342900" indent="-342900">
              <a:spcAft>
                <a:spcPts val="500"/>
              </a:spcAft>
              <a:buSzPct val="100000"/>
              <a:buChar char="•"/>
            </a:pPr>
            <a:r>
              <a:rPr lang="en-US" sz="1200" dirty="0">
                <a:solidFill>
                  <a:srgbClr val="FFFFFF"/>
                </a:solidFill>
              </a:rPr>
              <a:t>User authentication and role-based access</a:t>
            </a:r>
            <a:endParaRPr lang="en-US" sz="1200" dirty="0"/>
          </a:p>
          <a:p>
            <a:pPr marL="342900" indent="-342900">
              <a:spcAft>
                <a:spcPts val="500"/>
              </a:spcAft>
              <a:buSzPct val="100000"/>
              <a:buChar char="•"/>
            </a:pPr>
            <a:r>
              <a:rPr lang="en-US" sz="1200" dirty="0">
                <a:solidFill>
                  <a:srgbClr val="FFFFFF"/>
                </a:solidFill>
              </a:rPr>
              <a:t>Barcode scanning</a:t>
            </a:r>
            <a:endParaRPr lang="en-US" sz="1200" dirty="0"/>
          </a:p>
          <a:p>
            <a:pPr marL="342900" indent="-342900">
              <a:spcAft>
                <a:spcPts val="500"/>
              </a:spcAft>
              <a:buSzPct val="100000"/>
              <a:buChar char="•"/>
            </a:pPr>
            <a:r>
              <a:rPr lang="en-US" sz="1200" dirty="0">
                <a:solidFill>
                  <a:srgbClr val="FFFFFF"/>
                </a:solidFill>
              </a:rPr>
              <a:t>Automatic low-stock notifications</a:t>
            </a:r>
            <a:endParaRPr lang="en-US" sz="1200" dirty="0"/>
          </a:p>
          <a:p>
            <a:pPr marL="342900" indent="-342900">
              <a:spcAft>
                <a:spcPts val="500"/>
              </a:spcAft>
              <a:buSzPct val="100000"/>
              <a:buChar char="•"/>
            </a:pPr>
            <a:r>
              <a:rPr lang="en-US" sz="1200" dirty="0">
                <a:solidFill>
                  <a:srgbClr val="FFFFFF"/>
                </a:solidFill>
              </a:rPr>
              <a:t>Cloud deployment</a:t>
            </a:r>
            <a:endParaRPr lang="en-US" sz="1200" dirty="0"/>
          </a:p>
          <a:p>
            <a:pPr marL="342900" indent="-342900">
              <a:spcAft>
                <a:spcPts val="500"/>
              </a:spcAft>
              <a:buSzPct val="100000"/>
              <a:buChar char="•"/>
            </a:pPr>
            <a:r>
              <a:rPr lang="en-US" sz="1200" dirty="0">
                <a:solidFill>
                  <a:srgbClr val="FFFFFF"/>
                </a:solidFill>
              </a:rPr>
              <a:t>Advanced analytics and forecasting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530"/>
        </a:solidFill>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DD4BF"/>
          </a:solidFill>
          <a:ln w="12700">
            <a:solidFill>
              <a:srgbClr val="2DD4BF"/>
            </a:solidFill>
            <a:prstDash val="solid"/>
          </a:ln>
        </p:spPr>
      </p:sp>
      <p:sp>
        <p:nvSpPr>
          <p:cNvPr id="4" name="Text 1"/>
          <p:cNvSpPr txBox="1"/>
          <p:nvPr/>
        </p:nvSpPr>
        <p:spPr>
          <a:xfrm>
            <a:off x="731520" y="1280160"/>
            <a:ext cx="7315200" cy="822960"/>
          </a:xfrm>
          <a:prstGeom prst="rect">
            <a:avLst/>
          </a:prstGeom>
          <a:noFill/>
          <a:ln/>
        </p:spPr>
        <p:txBody>
          <a:bodyPr wrap="square" lIns="0" tIns="0" rIns="0" bIns="0" rtlCol="0" anchor="t"/>
          <a:lstStyle/>
          <a:p>
            <a:pPr indent="0" marL="0">
              <a:buNone/>
            </a:pPr>
            <a:r>
              <a:rPr lang="en-US" sz="4400" b="1" dirty="0">
                <a:solidFill>
                  <a:srgbClr val="FFFFFF"/>
                </a:solidFill>
              </a:rPr>
              <a:t>Thank You</a:t>
            </a:r>
            <a:endParaRPr lang="en-US" sz="4400" dirty="0"/>
          </a:p>
        </p:txBody>
      </p:sp>
      <p:sp>
        <p:nvSpPr>
          <p:cNvPr id="5" name="Text 2"/>
          <p:cNvSpPr txBox="1"/>
          <p:nvPr/>
        </p:nvSpPr>
        <p:spPr>
          <a:xfrm>
            <a:off x="731520" y="2194560"/>
            <a:ext cx="7315200" cy="457200"/>
          </a:xfrm>
          <a:prstGeom prst="rect">
            <a:avLst/>
          </a:prstGeom>
          <a:noFill/>
          <a:ln/>
        </p:spPr>
        <p:txBody>
          <a:bodyPr wrap="square" lIns="0" tIns="0" rIns="0" bIns="0" rtlCol="0" anchor="t"/>
          <a:lstStyle/>
          <a:p>
            <a:pPr indent="0" marL="0">
              <a:buNone/>
            </a:pPr>
            <a:r>
              <a:rPr lang="en-US" sz="2200" dirty="0">
                <a:solidFill>
                  <a:srgbClr val="2DD4BF"/>
                </a:solidFill>
              </a:rPr>
              <a:t>Questions &amp; Answers</a:t>
            </a:r>
            <a:endParaRPr lang="en-US" sz="2200" dirty="0"/>
          </a:p>
        </p:txBody>
      </p:sp>
      <p:sp>
        <p:nvSpPr>
          <p:cNvPr id="6" name="Text 3"/>
          <p:cNvSpPr txBox="1"/>
          <p:nvPr/>
        </p:nvSpPr>
        <p:spPr>
          <a:xfrm>
            <a:off x="731520" y="2834640"/>
            <a:ext cx="7315200" cy="365760"/>
          </a:xfrm>
          <a:prstGeom prst="rect">
            <a:avLst/>
          </a:prstGeom>
          <a:noFill/>
          <a:ln/>
        </p:spPr>
        <p:txBody>
          <a:bodyPr wrap="square" lIns="0" tIns="0" rIns="0" bIns="0" rtlCol="0" anchor="t"/>
          <a:lstStyle/>
          <a:p>
            <a:pPr indent="0" marL="0">
              <a:buNone/>
            </a:pPr>
            <a:r>
              <a:rPr lang="en-US" sz="1400" dirty="0">
                <a:solidFill>
                  <a:srgbClr val="A9B4D6"/>
                </a:solidFill>
              </a:rPr>
              <a:t>Inventory and Stock Management System</a:t>
            </a:r>
            <a:endParaRPr lang="en-US" sz="1400" dirty="0"/>
          </a:p>
        </p:txBody>
      </p:sp>
      <p:sp>
        <p:nvSpPr>
          <p:cNvPr id="7" name="Shape 4"/>
          <p:cNvSpPr/>
          <p:nvPr/>
        </p:nvSpPr>
        <p:spPr>
          <a:xfrm>
            <a:off x="6583680" y="3383280"/>
            <a:ext cx="2103120" cy="274320"/>
          </a:xfrm>
          <a:prstGeom prst="roundRect">
            <a:avLst>
              <a:gd name="adj" fmla="val 16667"/>
            </a:avLst>
          </a:prstGeom>
          <a:solidFill>
            <a:srgbClr val="15204A"/>
          </a:solidFill>
          <a:ln w="12700">
            <a:solidFill>
              <a:srgbClr val="2DD4BF"/>
            </a:solidFill>
            <a:prstDash val="solid"/>
          </a:ln>
        </p:spPr>
      </p:sp>
      <p:sp>
        <p:nvSpPr>
          <p:cNvPr id="8" name="Shape 5"/>
          <p:cNvSpPr/>
          <p:nvPr/>
        </p:nvSpPr>
        <p:spPr>
          <a:xfrm>
            <a:off x="6583680" y="3749040"/>
            <a:ext cx="2103120" cy="274320"/>
          </a:xfrm>
          <a:prstGeom prst="roundRect">
            <a:avLst>
              <a:gd name="adj" fmla="val 16667"/>
            </a:avLst>
          </a:prstGeom>
          <a:solidFill>
            <a:srgbClr val="15204A"/>
          </a:solidFill>
          <a:ln w="12700">
            <a:solidFill>
              <a:srgbClr val="A78BFA"/>
            </a:solidFill>
            <a:prstDash val="solid"/>
          </a:ln>
        </p:spPr>
      </p:sp>
      <p:sp>
        <p:nvSpPr>
          <p:cNvPr id="9" name="Shape 6"/>
          <p:cNvSpPr/>
          <p:nvPr/>
        </p:nvSpPr>
        <p:spPr>
          <a:xfrm>
            <a:off x="6583680" y="4114800"/>
            <a:ext cx="2103120" cy="274320"/>
          </a:xfrm>
          <a:prstGeom prst="roundRect">
            <a:avLst>
              <a:gd name="adj" fmla="val 16667"/>
            </a:avLst>
          </a:prstGeom>
          <a:solidFill>
            <a:srgbClr val="15204A"/>
          </a:solidFill>
          <a:ln w="12700">
            <a:solidFill>
              <a:srgbClr val="2DD4B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and Stock Management System</dc:title>
  <dc:subject>PptxGenJS Presentation</dc:subject>
  <dc:creator>PptxGenJS</dc:creator>
  <cp:lastModifiedBy>PptxGenJS</cp:lastModifiedBy>
  <cp:revision>1</cp:revision>
  <dcterms:created xsi:type="dcterms:W3CDTF">2026-10-27T04:40:45Z</dcterms:created>
  <dcterms:modified xsi:type="dcterms:W3CDTF">2026-10-27T04:40:45Z</dcterms:modified>
</cp:coreProperties>
</file>